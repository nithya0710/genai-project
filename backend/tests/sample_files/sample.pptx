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fWjo9QIm1u/PJ59b236MwrzaQwg=="/>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2" d="100"/>
          <a:sy n="62" d="100"/>
        </p:scale>
        <p:origin x="-732" y="-64"/>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2" name="Google Shape;12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9" name="Google Shape;13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49" name="Google Shape;14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69" name="Google Shape;16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79" name="Google Shape;17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90" name="Google Shape;19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01" name="Google Shape;20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12" name="Google Shape;21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22" name="Google Shape;22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2" name="Google Shape;23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79" name="Google Shape;27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9" name="Google Shape;32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81" name="Google Shape;38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93" name="Google Shape;39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13" name="Google Shape;41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8" name="Google Shape;42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8" name="Google Shape;42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38" name="Google Shape;43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pPr marL="0" lvl="0" indent="0" algn="r" rtl="0">
                <a:lnSpc>
                  <a:spcPct val="100000"/>
                </a:lnSpc>
                <a:spcBef>
                  <a:spcPts val="0"/>
                </a:spcBef>
                <a:spcAft>
                  <a:spcPts val="0"/>
                </a:spcAft>
                <a:buClr>
                  <a:schemeClr val="dk1"/>
                </a:buClr>
                <a:buSzPts val="1200"/>
                <a:buFont typeface="Calibri"/>
                <a:buNone/>
              </a:p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47" name="Google Shape;44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mailto:phalachandra@pes.edu"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9" name="Google Shape;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0" name="Google Shape;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9" name="Google Shape;153;p3"/>
          <p:cNvCxnSpPr/>
          <p:nvPr userDrawn="1"/>
        </p:nvCxnSpPr>
        <p:spPr>
          <a:xfrm>
            <a:off x="7834" y="1244559"/>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0" name="Google Shape;155;p3"/>
          <p:cNvSpPr/>
          <p:nvPr userDrawn="1"/>
        </p:nvSpPr>
        <p:spPr>
          <a:xfrm>
            <a:off x="393111" y="257669"/>
            <a:ext cx="749721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F5496"/>
              </a:buClr>
              <a:buSzPts val="2400"/>
              <a:buFont typeface="Calibri"/>
              <a:buNone/>
            </a:pPr>
            <a:r>
              <a:rPr lang="en-US" sz="2400" b="1" i="0" u="none" strike="noStrike" cap="none" dirty="0">
                <a:solidFill>
                  <a:srgbClr val="2F5496"/>
                </a:solidFill>
                <a:latin typeface="Calibri"/>
                <a:ea typeface="Calibri"/>
                <a:cs typeface="Calibri"/>
                <a:sym typeface="Calibri"/>
              </a:rPr>
              <a:t>Object Oriented Analysis and </a:t>
            </a:r>
            <a:r>
              <a:rPr lang="en-US" sz="2400" b="1" i="0" u="none" strike="noStrike" cap="none" dirty="0" smtClean="0">
                <a:solidFill>
                  <a:srgbClr val="2F5496"/>
                </a:solidFill>
                <a:latin typeface="Calibri"/>
                <a:ea typeface="Calibri"/>
                <a:cs typeface="Calibri"/>
                <a:sym typeface="Calibri"/>
              </a:rPr>
              <a:t>Design</a:t>
            </a:r>
            <a:endParaRPr sz="1800" b="0" i="0" u="none" strike="noStrike" cap="none">
              <a:solidFill>
                <a:schemeClr val="dk1"/>
              </a:solidFill>
              <a:latin typeface="Calibri"/>
              <a:ea typeface="Calibri"/>
              <a:cs typeface="Calibri"/>
              <a:sym typeface="Calibri"/>
            </a:endParaRPr>
          </a:p>
        </p:txBody>
      </p:sp>
      <p:pic>
        <p:nvPicPr>
          <p:cNvPr id="11" name="Google Shape;15;p21"/>
          <p:cNvPicPr preferRelativeResize="0"/>
          <p:nvPr userDrawn="1"/>
        </p:nvPicPr>
        <p:blipFill rotWithShape="1">
          <a:blip r:embed="rId2">
            <a:alphaModFix/>
          </a:blip>
          <a:srcRect/>
          <a:stretch/>
        </p:blipFill>
        <p:spPr>
          <a:xfrm>
            <a:off x="11257235" y="10586"/>
            <a:ext cx="812845" cy="139896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9"/>
        <p:cNvGrpSpPr/>
        <p:nvPr/>
      </p:nvGrpSpPr>
      <p:grpSpPr>
        <a:xfrm>
          <a:off x="0" y="0"/>
          <a:ext cx="0" cy="0"/>
          <a:chOff x="0" y="0"/>
          <a:chExt cx="0" cy="0"/>
        </a:xfrm>
      </p:grpSpPr>
      <p:sp>
        <p:nvSpPr>
          <p:cNvPr id="30" name="Google Shape;3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33" name="Google Shape;33;p24"/>
          <p:cNvPicPr preferRelativeResize="0"/>
          <p:nvPr/>
        </p:nvPicPr>
        <p:blipFill rotWithShape="1">
          <a:blip r:embed="rId2">
            <a:alphaModFix/>
          </a:blip>
          <a:srcRect/>
          <a:stretch/>
        </p:blipFill>
        <p:spPr>
          <a:xfrm>
            <a:off x="11158057" y="133515"/>
            <a:ext cx="932769" cy="1402202"/>
          </a:xfrm>
          <a:prstGeom prst="rect">
            <a:avLst/>
          </a:prstGeom>
          <a:noFill/>
          <a:ln>
            <a:noFill/>
          </a:ln>
        </p:spPr>
      </p:pic>
      <p:sp>
        <p:nvSpPr>
          <p:cNvPr id="34" name="Google Shape;34;p24"/>
          <p:cNvSpPr/>
          <p:nvPr/>
        </p:nvSpPr>
        <p:spPr>
          <a:xfrm>
            <a:off x="289993" y="1234181"/>
            <a:ext cx="749721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0C0"/>
                </a:solidFill>
                <a:latin typeface="Calibri"/>
                <a:ea typeface="Calibri"/>
                <a:cs typeface="Calibri"/>
                <a:sym typeface="Calibri"/>
              </a:rPr>
              <a:t>SOFTWARE ENGINEERING </a:t>
            </a:r>
            <a:endParaRPr sz="1400" b="0" i="0" u="none" strike="noStrike" cap="none">
              <a:solidFill>
                <a:srgbClr val="000000"/>
              </a:solidFill>
              <a:latin typeface="Arial"/>
              <a:ea typeface="Arial"/>
              <a:cs typeface="Arial"/>
              <a:sym typeface="Arial"/>
            </a:endParaRPr>
          </a:p>
        </p:txBody>
      </p:sp>
      <p:grpSp>
        <p:nvGrpSpPr>
          <p:cNvPr id="35" name="Google Shape;35;p24"/>
          <p:cNvGrpSpPr/>
          <p:nvPr/>
        </p:nvGrpSpPr>
        <p:grpSpPr>
          <a:xfrm>
            <a:off x="415018" y="5058775"/>
            <a:ext cx="1066895" cy="1078155"/>
            <a:chOff x="313844" y="5489699"/>
            <a:chExt cx="1066895" cy="1078155"/>
          </a:xfrm>
        </p:grpSpPr>
        <p:sp>
          <p:nvSpPr>
            <p:cNvPr id="36" name="Google Shape;36;p24"/>
            <p:cNvSpPr/>
            <p:nvPr/>
          </p:nvSpPr>
          <p:spPr>
            <a:xfrm rot="5400000">
              <a:off x="824432" y="6011547"/>
              <a:ext cx="45719" cy="1066895"/>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 name="Google Shape;37;p24"/>
            <p:cNvSpPr/>
            <p:nvPr/>
          </p:nvSpPr>
          <p:spPr>
            <a:xfrm rot="10800000">
              <a:off x="313844" y="5489699"/>
              <a:ext cx="45719" cy="1066895"/>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38" name="Google Shape;38;p24"/>
          <p:cNvCxnSpPr/>
          <p:nvPr/>
        </p:nvCxnSpPr>
        <p:spPr>
          <a:xfrm rot="10800000" flipH="1">
            <a:off x="3200" y="2094443"/>
            <a:ext cx="6332283" cy="1"/>
          </a:xfrm>
          <a:prstGeom prst="straightConnector1">
            <a:avLst/>
          </a:prstGeom>
          <a:noFill/>
          <a:ln w="38100" cap="flat" cmpd="sng">
            <a:solidFill>
              <a:srgbClr val="DFA267"/>
            </a:solidFill>
            <a:prstDash val="solid"/>
            <a:miter lim="800000"/>
            <a:headEnd type="none" w="sm" len="sm"/>
            <a:tailEnd type="none" w="sm" len="sm"/>
          </a:ln>
        </p:spPr>
      </p:cxnSp>
      <p:sp>
        <p:nvSpPr>
          <p:cNvPr id="39" name="Google Shape;39;p24"/>
          <p:cNvSpPr/>
          <p:nvPr/>
        </p:nvSpPr>
        <p:spPr>
          <a:xfrm>
            <a:off x="508014" y="5239098"/>
            <a:ext cx="7497214"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Prof. Phalachandra H. 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Department of Computer Science and Engineering</a:t>
            </a:r>
            <a:endParaRPr sz="2000" b="0" i="0" u="none" strike="noStrike" cap="none">
              <a:solidFill>
                <a:schemeClr val="dk1"/>
              </a:solidFill>
              <a:latin typeface="Calibri"/>
              <a:ea typeface="Calibri"/>
              <a:cs typeface="Calibri"/>
              <a:sym typeface="Calibri"/>
            </a:endParaRPr>
          </a:p>
        </p:txBody>
      </p:sp>
      <p:sp>
        <p:nvSpPr>
          <p:cNvPr id="40" name="Google Shape;40;p24"/>
          <p:cNvSpPr txBox="1"/>
          <p:nvPr/>
        </p:nvSpPr>
        <p:spPr>
          <a:xfrm>
            <a:off x="326749" y="6142419"/>
            <a:ext cx="8055251" cy="71558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050"/>
              <a:buFont typeface="Arial"/>
              <a:buNone/>
            </a:pPr>
            <a:r>
              <a:rPr lang="en-US" sz="1050" b="1" i="0" u="none" strike="noStrike" cap="none">
                <a:solidFill>
                  <a:srgbClr val="7F7F7F"/>
                </a:solidFill>
                <a:latin typeface="Calibri"/>
                <a:ea typeface="Calibri"/>
                <a:cs typeface="Calibri"/>
                <a:sym typeface="Calibri"/>
              </a:rPr>
              <a:t>Acknowledgements: </a:t>
            </a:r>
            <a:r>
              <a:rPr lang="en-US" sz="1000" b="1" i="0" u="none" strike="noStrike" cap="none">
                <a:solidFill>
                  <a:srgbClr val="7F7F7F"/>
                </a:solidFill>
                <a:latin typeface="Calibri"/>
                <a:ea typeface="Calibri"/>
                <a:cs typeface="Calibri"/>
                <a:sym typeface="Calibri"/>
              </a:rPr>
              <a:t>Significant portions of the information in the slide sets presented through the course in the class, are extracted from the prescribed text books, information from the Internet and supplemented by my experience. Since these are only intended for presentation for teaching within PESU, there was no explicit permission solicited. We would like to sincerely thank and acknowledge that the credit/rights remain with the original authors/creators only</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41"/>
        <p:cNvGrpSpPr/>
        <p:nvPr/>
      </p:nvGrpSpPr>
      <p:grpSpPr>
        <a:xfrm>
          <a:off x="0" y="0"/>
          <a:ext cx="0" cy="0"/>
          <a:chOff x="0" y="0"/>
          <a:chExt cx="0" cy="0"/>
        </a:xfrm>
      </p:grpSpPr>
      <p:sp>
        <p:nvSpPr>
          <p:cNvPr id="42" name="Google Shape;4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44" name="Google Shape;44;p25"/>
          <p:cNvPicPr preferRelativeResize="0"/>
          <p:nvPr/>
        </p:nvPicPr>
        <p:blipFill rotWithShape="1">
          <a:blip r:embed="rId2">
            <a:alphaModFix/>
          </a:blip>
          <a:srcRect/>
          <a:stretch/>
        </p:blipFill>
        <p:spPr>
          <a:xfrm>
            <a:off x="11073974" y="136525"/>
            <a:ext cx="932769" cy="1402202"/>
          </a:xfrm>
          <a:prstGeom prst="rect">
            <a:avLst/>
          </a:prstGeom>
          <a:noFill/>
          <a:ln>
            <a:noFill/>
          </a:ln>
        </p:spPr>
      </p:pic>
      <p:cxnSp>
        <p:nvCxnSpPr>
          <p:cNvPr id="45" name="Google Shape;45;p25"/>
          <p:cNvCxnSpPr/>
          <p:nvPr/>
        </p:nvCxnSpPr>
        <p:spPr>
          <a:xfrm rot="10800000" flipH="1">
            <a:off x="0" y="1380670"/>
            <a:ext cx="6578936" cy="1"/>
          </a:xfrm>
          <a:prstGeom prst="straightConnector1">
            <a:avLst/>
          </a:prstGeom>
          <a:noFill/>
          <a:ln w="38100" cap="flat" cmpd="sng">
            <a:solidFill>
              <a:srgbClr val="DFA267"/>
            </a:solidFill>
            <a:prstDash val="solid"/>
            <a:miter lim="800000"/>
            <a:headEnd type="none" w="sm" len="sm"/>
            <a:tailEnd type="none" w="sm" len="sm"/>
          </a:ln>
        </p:spPr>
      </p:cxnSp>
      <p:sp>
        <p:nvSpPr>
          <p:cNvPr id="46" name="Google Shape;46;p25"/>
          <p:cNvSpPr txBox="1"/>
          <p:nvPr/>
        </p:nvSpPr>
        <p:spPr>
          <a:xfrm>
            <a:off x="80210" y="476923"/>
            <a:ext cx="6096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0070C0"/>
                </a:solidFill>
                <a:latin typeface="Calibri"/>
                <a:ea typeface="Calibri"/>
                <a:cs typeface="Calibri"/>
                <a:sym typeface="Calibri"/>
              </a:rPr>
              <a:t>REQUIREMENTS ENGINEERING</a:t>
            </a:r>
            <a:endParaRPr sz="1400" b="0" i="0" u="none" strike="noStrike" cap="none">
              <a:solidFill>
                <a:srgbClr val="000000"/>
              </a:solidFill>
              <a:latin typeface="Arial"/>
              <a:ea typeface="Arial"/>
              <a:cs typeface="Arial"/>
              <a:sym typeface="Arial"/>
            </a:endParaRPr>
          </a:p>
        </p:txBody>
      </p:sp>
      <p:grpSp>
        <p:nvGrpSpPr>
          <p:cNvPr id="47" name="Google Shape;47;p25"/>
          <p:cNvGrpSpPr/>
          <p:nvPr/>
        </p:nvGrpSpPr>
        <p:grpSpPr>
          <a:xfrm>
            <a:off x="292403" y="5543111"/>
            <a:ext cx="545797" cy="1078155"/>
            <a:chOff x="313844" y="5489699"/>
            <a:chExt cx="1066895" cy="1078155"/>
          </a:xfrm>
        </p:grpSpPr>
        <p:sp>
          <p:nvSpPr>
            <p:cNvPr id="48" name="Google Shape;48;p25"/>
            <p:cNvSpPr/>
            <p:nvPr/>
          </p:nvSpPr>
          <p:spPr>
            <a:xfrm rot="5400000">
              <a:off x="824432" y="6011547"/>
              <a:ext cx="45719" cy="1066895"/>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 name="Google Shape;49;p25"/>
            <p:cNvSpPr/>
            <p:nvPr/>
          </p:nvSpPr>
          <p:spPr>
            <a:xfrm rot="10800000">
              <a:off x="313844" y="5489699"/>
              <a:ext cx="45719" cy="1066895"/>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50" name="Google Shape;50;p25"/>
          <p:cNvSpPr/>
          <p:nvPr/>
        </p:nvSpPr>
        <p:spPr>
          <a:xfrm>
            <a:off x="484043" y="5674609"/>
            <a:ext cx="5412104"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Prof. Phalachandra H. 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Department of Computer Science and Engineering</a:t>
            </a:r>
            <a:endParaRPr sz="20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51"/>
        <p:cNvGrpSpPr/>
        <p:nvPr/>
      </p:nvGrpSpPr>
      <p:grpSpPr>
        <a:xfrm>
          <a:off x="0" y="0"/>
          <a:ext cx="0" cy="0"/>
          <a:chOff x="0" y="0"/>
          <a:chExt cx="0" cy="0"/>
        </a:xfrm>
      </p:grpSpPr>
      <p:sp>
        <p:nvSpPr>
          <p:cNvPr id="52" name="Google Shape;5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55" name="Google Shape;55;p26"/>
          <p:cNvPicPr preferRelativeResize="0"/>
          <p:nvPr/>
        </p:nvPicPr>
        <p:blipFill rotWithShape="1">
          <a:blip r:embed="rId2">
            <a:alphaModFix/>
          </a:blip>
          <a:srcRect/>
          <a:stretch/>
        </p:blipFill>
        <p:spPr>
          <a:xfrm>
            <a:off x="11052953" y="136525"/>
            <a:ext cx="932769" cy="1402202"/>
          </a:xfrm>
          <a:prstGeom prst="rect">
            <a:avLst/>
          </a:prstGeom>
          <a:noFill/>
          <a:ln>
            <a:noFill/>
          </a:ln>
        </p:spPr>
      </p:pic>
      <p:sp>
        <p:nvSpPr>
          <p:cNvPr id="56" name="Google Shape;56;p26"/>
          <p:cNvSpPr/>
          <p:nvPr/>
        </p:nvSpPr>
        <p:spPr>
          <a:xfrm>
            <a:off x="101535" y="0"/>
            <a:ext cx="4216529" cy="58907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i="0" u="none" strike="noStrike" cap="none">
                <a:solidFill>
                  <a:srgbClr val="0070C0"/>
                </a:solidFill>
                <a:latin typeface="Calibri"/>
                <a:ea typeface="Calibri"/>
                <a:cs typeface="Calibri"/>
                <a:sym typeface="Calibri"/>
              </a:rPr>
              <a:t>REQUIREMENTS ENGINEERING</a:t>
            </a:r>
            <a:endParaRPr sz="1400" b="0" i="0" u="none" strike="noStrike" cap="none">
              <a:solidFill>
                <a:srgbClr val="000000"/>
              </a:solidFill>
              <a:latin typeface="Arial"/>
              <a:ea typeface="Arial"/>
              <a:cs typeface="Arial"/>
              <a:sym typeface="Arial"/>
            </a:endParaRPr>
          </a:p>
        </p:txBody>
      </p:sp>
      <p:cxnSp>
        <p:nvCxnSpPr>
          <p:cNvPr id="57" name="Google Shape;57;p26"/>
          <p:cNvCxnSpPr/>
          <p:nvPr/>
        </p:nvCxnSpPr>
        <p:spPr>
          <a:xfrm>
            <a:off x="18587" y="1087663"/>
            <a:ext cx="5817437" cy="0"/>
          </a:xfrm>
          <a:prstGeom prst="straightConnector1">
            <a:avLst/>
          </a:prstGeom>
          <a:noFill/>
          <a:ln w="38100" cap="flat" cmpd="sng">
            <a:solidFill>
              <a:srgbClr val="DFA267"/>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58"/>
        <p:cNvGrpSpPr/>
        <p:nvPr/>
      </p:nvGrpSpPr>
      <p:grpSpPr>
        <a:xfrm>
          <a:off x="0" y="0"/>
          <a:ext cx="0" cy="0"/>
          <a:chOff x="0" y="0"/>
          <a:chExt cx="0" cy="0"/>
        </a:xfrm>
      </p:grpSpPr>
      <p:sp>
        <p:nvSpPr>
          <p:cNvPr id="59" name="Google Shape;5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62" name="Google Shape;62;p27"/>
          <p:cNvPicPr preferRelativeResize="0"/>
          <p:nvPr/>
        </p:nvPicPr>
        <p:blipFill rotWithShape="1">
          <a:blip r:embed="rId2">
            <a:alphaModFix/>
          </a:blip>
          <a:srcRect/>
          <a:stretch/>
        </p:blipFill>
        <p:spPr>
          <a:xfrm>
            <a:off x="1483852" y="1785280"/>
            <a:ext cx="2371550" cy="3554276"/>
          </a:xfrm>
          <a:prstGeom prst="rect">
            <a:avLst/>
          </a:prstGeom>
          <a:noFill/>
          <a:ln>
            <a:noFill/>
          </a:ln>
        </p:spPr>
      </p:pic>
      <p:cxnSp>
        <p:nvCxnSpPr>
          <p:cNvPr id="63" name="Google Shape;63;p27"/>
          <p:cNvCxnSpPr/>
          <p:nvPr/>
        </p:nvCxnSpPr>
        <p:spPr>
          <a:xfrm rot="10800000" flipH="1">
            <a:off x="4587993" y="2763967"/>
            <a:ext cx="4581449" cy="1"/>
          </a:xfrm>
          <a:prstGeom prst="straightConnector1">
            <a:avLst/>
          </a:prstGeom>
          <a:noFill/>
          <a:ln w="38100" cap="flat" cmpd="sng">
            <a:solidFill>
              <a:srgbClr val="DFA267"/>
            </a:solidFill>
            <a:prstDash val="solid"/>
            <a:miter lim="800000"/>
            <a:headEnd type="none" w="sm" len="sm"/>
            <a:tailEnd type="none" w="sm" len="sm"/>
          </a:ln>
        </p:spPr>
      </p:cxnSp>
      <p:sp>
        <p:nvSpPr>
          <p:cNvPr id="64" name="Google Shape;64;p27"/>
          <p:cNvSpPr txBox="1"/>
          <p:nvPr/>
        </p:nvSpPr>
        <p:spPr>
          <a:xfrm>
            <a:off x="4493863" y="1965255"/>
            <a:ext cx="2227469"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F4B350"/>
                </a:solidFill>
                <a:latin typeface="Calibri"/>
                <a:ea typeface="Calibri"/>
                <a:cs typeface="Calibri"/>
                <a:sym typeface="Calibri"/>
              </a:rPr>
              <a:t>THANK YOU</a:t>
            </a:r>
            <a:endParaRPr sz="1800" b="1" i="0" u="none" strike="noStrike" cap="none">
              <a:solidFill>
                <a:srgbClr val="F4B350"/>
              </a:solidFill>
              <a:latin typeface="Calibri"/>
              <a:ea typeface="Calibri"/>
              <a:cs typeface="Calibri"/>
              <a:sym typeface="Calibri"/>
            </a:endParaRPr>
          </a:p>
        </p:txBody>
      </p:sp>
      <p:sp>
        <p:nvSpPr>
          <p:cNvPr id="65" name="Google Shape;65;p27"/>
          <p:cNvSpPr/>
          <p:nvPr/>
        </p:nvSpPr>
        <p:spPr>
          <a:xfrm>
            <a:off x="4587993" y="2890391"/>
            <a:ext cx="7497214"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Prof. Phalachandra H.L.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Department of Computer Science and Engineering</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sng" strike="noStrike" cap="none">
                <a:solidFill>
                  <a:schemeClr val="dk1"/>
                </a:solidFill>
                <a:latin typeface="Calibri"/>
                <a:ea typeface="Calibri"/>
                <a:cs typeface="Calibri"/>
                <a:sym typeface="Calib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phalachandra@pes.edu</a:t>
            </a:r>
            <a:endParaRPr sz="2000" b="0" i="0" u="sng" strike="noStrike" cap="none">
              <a:solidFill>
                <a:srgbClr val="0070C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28"/>
          <p:cNvSpPr txBox="1">
            <a:spLocks noGrp="1"/>
          </p:cNvSpPr>
          <p:nvPr>
            <p:ph type="title"/>
          </p:nvPr>
        </p:nvSpPr>
        <p:spPr>
          <a:xfrm>
            <a:off x="263434" y="344087"/>
            <a:ext cx="10515600" cy="55798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600"/>
              <a:buFont typeface="Calibri"/>
              <a:buNone/>
              <a:defRPr sz="3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8"/>
          <p:cNvSpPr txBox="1">
            <a:spLocks noGrp="1"/>
          </p:cNvSpPr>
          <p:nvPr>
            <p:ph type="body" idx="1"/>
          </p:nvPr>
        </p:nvSpPr>
        <p:spPr>
          <a:xfrm>
            <a:off x="416159" y="1453541"/>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72" name="Google Shape;72;p28"/>
          <p:cNvPicPr preferRelativeResize="0"/>
          <p:nvPr/>
        </p:nvPicPr>
        <p:blipFill rotWithShape="1">
          <a:blip r:embed="rId2">
            <a:alphaModFix/>
          </a:blip>
          <a:srcRect/>
          <a:stretch/>
        </p:blipFill>
        <p:spPr>
          <a:xfrm>
            <a:off x="11084484" y="136525"/>
            <a:ext cx="932769" cy="1402202"/>
          </a:xfrm>
          <a:prstGeom prst="rect">
            <a:avLst/>
          </a:prstGeom>
          <a:noFill/>
          <a:ln>
            <a:noFill/>
          </a:ln>
        </p:spPr>
      </p:pic>
      <p:cxnSp>
        <p:nvCxnSpPr>
          <p:cNvPr id="73" name="Google Shape;73;p28"/>
          <p:cNvCxnSpPr/>
          <p:nvPr/>
        </p:nvCxnSpPr>
        <p:spPr>
          <a:xfrm>
            <a:off x="-8308" y="1209922"/>
            <a:ext cx="8300052" cy="0"/>
          </a:xfrm>
          <a:prstGeom prst="straightConnector1">
            <a:avLst/>
          </a:prstGeom>
          <a:noFill/>
          <a:ln w="38100" cap="flat" cmpd="sng">
            <a:solidFill>
              <a:srgbClr val="DFA267"/>
            </a:solidFill>
            <a:prstDash val="solid"/>
            <a:miter lim="800000"/>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4"/>
        <p:cNvGrpSpPr/>
        <p:nvPr/>
      </p:nvGrpSpPr>
      <p:grpSpPr>
        <a:xfrm>
          <a:off x="0" y="0"/>
          <a:ext cx="0" cy="0"/>
          <a:chOff x="0" y="0"/>
          <a:chExt cx="0" cy="0"/>
        </a:xfrm>
      </p:grpSpPr>
      <p:sp>
        <p:nvSpPr>
          <p:cNvPr id="75" name="Google Shape;75;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7" name="Google Shape;77;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9" name="Google Shape;79;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3"/>
        <p:cNvGrpSpPr/>
        <p:nvPr/>
      </p:nvGrpSpPr>
      <p:grpSpPr>
        <a:xfrm>
          <a:off x="0" y="0"/>
          <a:ext cx="0" cy="0"/>
          <a:chOff x="0" y="0"/>
          <a:chExt cx="0" cy="0"/>
        </a:xfrm>
      </p:grpSpPr>
      <p:sp>
        <p:nvSpPr>
          <p:cNvPr id="84" name="Google Shape;8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88" name="Google Shape;88;p30"/>
          <p:cNvPicPr preferRelativeResize="0"/>
          <p:nvPr/>
        </p:nvPicPr>
        <p:blipFill rotWithShape="1">
          <a:blip r:embed="rId2">
            <a:alphaModFix/>
          </a:blip>
          <a:srcRect/>
          <a:stretch/>
        </p:blipFill>
        <p:spPr>
          <a:xfrm>
            <a:off x="11052953" y="136525"/>
            <a:ext cx="932769" cy="140220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
        <p:cNvGrpSpPr/>
        <p:nvPr/>
      </p:nvGrpSpPr>
      <p:grpSpPr>
        <a:xfrm>
          <a:off x="0" y="0"/>
          <a:ext cx="0" cy="0"/>
          <a:chOff x="0" y="0"/>
          <a:chExt cx="0" cy="0"/>
        </a:xfrm>
      </p:grpSpPr>
      <p:sp>
        <p:nvSpPr>
          <p:cNvPr id="90" name="Google Shape;9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93" name="Google Shape;93;p31"/>
          <p:cNvPicPr preferRelativeResize="0"/>
          <p:nvPr/>
        </p:nvPicPr>
        <p:blipFill rotWithShape="1">
          <a:blip r:embed="rId2">
            <a:alphaModFix/>
          </a:blip>
          <a:srcRect/>
          <a:stretch/>
        </p:blipFill>
        <p:spPr>
          <a:xfrm>
            <a:off x="11073974" y="136525"/>
            <a:ext cx="932769" cy="140220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4"/>
        <p:cNvGrpSpPr/>
        <p:nvPr/>
      </p:nvGrpSpPr>
      <p:grpSpPr>
        <a:xfrm>
          <a:off x="0" y="0"/>
          <a:ext cx="0" cy="0"/>
          <a:chOff x="0" y="0"/>
          <a:chExt cx="0" cy="0"/>
        </a:xfrm>
      </p:grpSpPr>
      <p:sp>
        <p:nvSpPr>
          <p:cNvPr id="95" name="Google Shape;95;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7" name="Google Shape;97;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1"/>
        <p:cNvGrpSpPr/>
        <p:nvPr/>
      </p:nvGrpSpPr>
      <p:grpSpPr>
        <a:xfrm>
          <a:off x="0" y="0"/>
          <a:ext cx="0" cy="0"/>
          <a:chOff x="0" y="0"/>
          <a:chExt cx="0" cy="0"/>
        </a:xfrm>
      </p:grpSpPr>
      <p:sp>
        <p:nvSpPr>
          <p:cNvPr id="102" name="Google Shape;102;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a:spLocks noGrp="1"/>
          </p:cNvSpPr>
          <p:nvPr>
            <p:ph type="pic" idx="2"/>
          </p:nvPr>
        </p:nvSpPr>
        <p:spPr>
          <a:xfrm>
            <a:off x="5183188" y="987425"/>
            <a:ext cx="6172200" cy="4873625"/>
          </a:xfrm>
          <a:prstGeom prst="rect">
            <a:avLst/>
          </a:prstGeom>
          <a:noFill/>
          <a:ln>
            <a:noFill/>
          </a:ln>
        </p:spPr>
      </p:sp>
      <p:sp>
        <p:nvSpPr>
          <p:cNvPr id="104" name="Google Shape;104;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5" name="Google Shape;10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8"/>
        <p:cNvGrpSpPr/>
        <p:nvPr/>
      </p:nvGrpSpPr>
      <p:grpSpPr>
        <a:xfrm>
          <a:off x="0" y="0"/>
          <a:ext cx="0" cy="0"/>
          <a:chOff x="0" y="0"/>
          <a:chExt cx="0" cy="0"/>
        </a:xfrm>
      </p:grpSpPr>
      <p:sp>
        <p:nvSpPr>
          <p:cNvPr id="109" name="Google Shape;109;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4"/>
        <p:cNvGrpSpPr/>
        <p:nvPr/>
      </p:nvGrpSpPr>
      <p:grpSpPr>
        <a:xfrm>
          <a:off x="0" y="0"/>
          <a:ext cx="0" cy="0"/>
          <a:chOff x="0" y="0"/>
          <a:chExt cx="0" cy="0"/>
        </a:xfrm>
      </p:grpSpPr>
      <p:sp>
        <p:nvSpPr>
          <p:cNvPr id="115" name="Google Shape;115;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
          <p:cNvSpPr/>
          <p:nvPr/>
        </p:nvSpPr>
        <p:spPr>
          <a:xfrm>
            <a:off x="4671078" y="2115292"/>
            <a:ext cx="709283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55A11"/>
              </a:buClr>
              <a:buSzPts val="3600"/>
              <a:buFont typeface="Calibri"/>
              <a:buNone/>
            </a:pPr>
            <a:r>
              <a:rPr lang="en-US" sz="3200" b="1" i="0" u="none" strike="noStrike" cap="none" dirty="0">
                <a:solidFill>
                  <a:srgbClr val="C55A11"/>
                </a:solidFill>
                <a:latin typeface="Calibri"/>
                <a:ea typeface="Calibri"/>
                <a:cs typeface="Calibri"/>
                <a:sym typeface="Calibri"/>
              </a:rPr>
              <a:t>Object Oriented Analysis and </a:t>
            </a:r>
            <a:r>
              <a:rPr lang="en-US" sz="3200" b="1" i="0" u="none" strike="noStrike" cap="none" dirty="0" smtClean="0">
                <a:solidFill>
                  <a:srgbClr val="C55A11"/>
                </a:solidFill>
                <a:latin typeface="Calibri"/>
                <a:ea typeface="Calibri"/>
                <a:cs typeface="Calibri"/>
                <a:sym typeface="Calibri"/>
              </a:rPr>
              <a:t>Design</a:t>
            </a:r>
            <a:endParaRPr sz="1600" b="0" i="0" u="none" strike="noStrike" cap="none">
              <a:solidFill>
                <a:schemeClr val="dk1"/>
              </a:solidFill>
              <a:latin typeface="Calibri"/>
              <a:ea typeface="Calibri"/>
              <a:cs typeface="Calibri"/>
              <a:sym typeface="Calibri"/>
            </a:endParaRPr>
          </a:p>
        </p:txBody>
      </p:sp>
      <p:grpSp>
        <p:nvGrpSpPr>
          <p:cNvPr id="125" name="Google Shape;125;p1"/>
          <p:cNvGrpSpPr/>
          <p:nvPr/>
        </p:nvGrpSpPr>
        <p:grpSpPr>
          <a:xfrm>
            <a:off x="313844" y="5489699"/>
            <a:ext cx="1066895" cy="1078155"/>
            <a:chOff x="313844" y="5489699"/>
            <a:chExt cx="1066895" cy="1078155"/>
          </a:xfrm>
        </p:grpSpPr>
        <p:sp>
          <p:nvSpPr>
            <p:cNvPr id="126" name="Google Shape;126;p1"/>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27" name="Google Shape;127;p1"/>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grpSp>
      <p:cxnSp>
        <p:nvCxnSpPr>
          <p:cNvPr id="128" name="Google Shape;128;p1"/>
          <p:cNvCxnSpPr/>
          <p:nvPr/>
        </p:nvCxnSpPr>
        <p:spPr>
          <a:xfrm rot="10800000" flipH="1">
            <a:off x="4781916" y="3396817"/>
            <a:ext cx="4581449" cy="1"/>
          </a:xfrm>
          <a:prstGeom prst="straightConnector1">
            <a:avLst/>
          </a:prstGeom>
          <a:noFill/>
          <a:ln w="38100" cap="flat" cmpd="sng">
            <a:solidFill>
              <a:srgbClr val="C55A11"/>
            </a:solidFill>
            <a:prstDash val="solid"/>
            <a:miter lim="800000"/>
            <a:headEnd type="none" w="sm" len="sm"/>
            <a:tailEnd type="none" w="sm" len="sm"/>
          </a:ln>
        </p:spPr>
      </p:cxnSp>
      <p:grpSp>
        <p:nvGrpSpPr>
          <p:cNvPr id="129" name="Google Shape;129;p1"/>
          <p:cNvGrpSpPr/>
          <p:nvPr/>
        </p:nvGrpSpPr>
        <p:grpSpPr>
          <a:xfrm rot="10800000">
            <a:off x="10855702" y="266068"/>
            <a:ext cx="1066895" cy="1078155"/>
            <a:chOff x="313844" y="5489699"/>
            <a:chExt cx="1066895" cy="1078155"/>
          </a:xfrm>
        </p:grpSpPr>
        <p:sp>
          <p:nvSpPr>
            <p:cNvPr id="130" name="Google Shape;130;p1"/>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31" name="Google Shape;131;p1"/>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grpSp>
      <p:sp>
        <p:nvSpPr>
          <p:cNvPr id="132" name="Google Shape;132;p1"/>
          <p:cNvSpPr/>
          <p:nvPr/>
        </p:nvSpPr>
        <p:spPr>
          <a:xfrm>
            <a:off x="4781916" y="3642664"/>
            <a:ext cx="749721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Prof. Vinay Joshi</a:t>
            </a:r>
            <a:endParaRPr sz="2400" b="1" i="0" u="none" strike="noStrike" cap="none">
              <a:solidFill>
                <a:schemeClr val="dk1"/>
              </a:solidFill>
              <a:latin typeface="Calibri"/>
              <a:ea typeface="Calibri"/>
              <a:cs typeface="Calibri"/>
              <a:sym typeface="Calibri"/>
            </a:endParaRPr>
          </a:p>
        </p:txBody>
      </p:sp>
      <p:sp>
        <p:nvSpPr>
          <p:cNvPr id="133" name="Google Shape;133;p1"/>
          <p:cNvSpPr/>
          <p:nvPr/>
        </p:nvSpPr>
        <p:spPr>
          <a:xfrm>
            <a:off x="4781916" y="4040269"/>
            <a:ext cx="65751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Department of Computer Science and Engineering</a:t>
            </a:r>
            <a:endParaRPr sz="2400" b="0" i="0" u="none" strike="noStrike" cap="none">
              <a:solidFill>
                <a:schemeClr val="dk1"/>
              </a:solidFill>
              <a:latin typeface="Calibri"/>
              <a:ea typeface="Calibri"/>
              <a:cs typeface="Calibri"/>
              <a:sym typeface="Calibri"/>
            </a:endParaRPr>
          </a:p>
        </p:txBody>
      </p:sp>
      <p:sp>
        <p:nvSpPr>
          <p:cNvPr id="134" name="Google Shape;13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pPr marL="0" lvl="0" indent="0" algn="r" rtl="0">
                <a:lnSpc>
                  <a:spcPct val="100000"/>
                </a:lnSpc>
                <a:spcBef>
                  <a:spcPts val="0"/>
                </a:spcBef>
                <a:spcAft>
                  <a:spcPts val="0"/>
                </a:spcAft>
                <a:buClr>
                  <a:srgbClr val="888888"/>
                </a:buClr>
                <a:buSzPts val="1200"/>
                <a:buFont typeface="Calibri"/>
                <a:buNone/>
              </a:pPr>
              <a:t>1</a:t>
            </a:fld>
            <a:endParaRPr/>
          </a:p>
        </p:txBody>
      </p:sp>
      <p:pic>
        <p:nvPicPr>
          <p:cNvPr id="14" name="Google Shape;79;p1"/>
          <p:cNvPicPr preferRelativeResize="0"/>
          <p:nvPr/>
        </p:nvPicPr>
        <p:blipFill rotWithShape="1">
          <a:blip r:embed="rId3">
            <a:alphaModFix/>
          </a:blip>
          <a:srcRect/>
          <a:stretch/>
        </p:blipFill>
        <p:spPr>
          <a:xfrm>
            <a:off x="1213035" y="1041163"/>
            <a:ext cx="2382920" cy="3982900"/>
          </a:xfrm>
          <a:prstGeom prst="rect">
            <a:avLst/>
          </a:prstGeom>
          <a:noFill/>
          <a:ln>
            <a:noFill/>
          </a:ln>
        </p:spPr>
      </p:pic>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42" name="Google Shape;142;p2"/>
          <p:cNvSpPr txBox="1"/>
          <p:nvPr/>
        </p:nvSpPr>
        <p:spPr>
          <a:xfrm>
            <a:off x="301558" y="1459390"/>
            <a:ext cx="8968902" cy="454384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RE is usually the first step in any software intensive development lifecycle irrespective of model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742950" marR="0" lvl="1" indent="-285750" algn="l" rtl="0">
              <a:lnSpc>
                <a:spcPct val="100000"/>
              </a:lnSpc>
              <a:spcBef>
                <a:spcPts val="1200"/>
              </a:spcBef>
              <a:spcAft>
                <a:spcPts val="0"/>
              </a:spcAft>
              <a:buClr>
                <a:srgbClr val="808080"/>
              </a:buClr>
              <a:buSzPts val="2000"/>
              <a:buFont typeface="Arial"/>
              <a:buChar char="•"/>
            </a:pPr>
            <a:r>
              <a:rPr lang="en-US" sz="2000" b="0" i="0" u="none" strike="noStrike" cap="none" dirty="0">
                <a:solidFill>
                  <a:srgbClr val="000000"/>
                </a:solidFill>
                <a:latin typeface="Calibri"/>
                <a:ea typeface="Calibri"/>
                <a:cs typeface="Calibri"/>
                <a:sym typeface="Calibri"/>
              </a:rPr>
              <a:t>Usually difficult, error prone and costly</a:t>
            </a:r>
            <a:endParaRPr sz="1400" b="0" i="0" u="none" strike="noStrike" cap="none">
              <a:solidFill>
                <a:srgbClr val="000000"/>
              </a:solidFill>
              <a:latin typeface="Calibri"/>
              <a:ea typeface="Calibri"/>
              <a:cs typeface="Calibri"/>
              <a:sym typeface="Calibri"/>
            </a:endParaRPr>
          </a:p>
          <a:p>
            <a:pPr marL="742950" marR="0" lvl="1" indent="-285750" algn="l" rtl="0">
              <a:lnSpc>
                <a:spcPct val="100000"/>
              </a:lnSpc>
              <a:spcBef>
                <a:spcPts val="1200"/>
              </a:spcBef>
              <a:spcAft>
                <a:spcPts val="0"/>
              </a:spcAft>
              <a:buClr>
                <a:srgbClr val="808080"/>
              </a:buClr>
              <a:buSzPts val="2000"/>
              <a:buFont typeface="Arial"/>
              <a:buChar char="•"/>
            </a:pPr>
            <a:r>
              <a:rPr lang="en-US" sz="2000" b="0" i="0" u="none" strike="noStrike" cap="none" dirty="0">
                <a:solidFill>
                  <a:srgbClr val="000000"/>
                </a:solidFill>
                <a:latin typeface="Calibri"/>
                <a:ea typeface="Calibri"/>
                <a:cs typeface="Calibri"/>
                <a:sym typeface="Calibri"/>
              </a:rPr>
              <a:t>Critical for successful </a:t>
            </a:r>
            <a:r>
              <a:rPr lang="en-US" sz="2000" b="0" i="0" u="none" strike="noStrike" cap="none" dirty="0" smtClean="0">
                <a:solidFill>
                  <a:srgbClr val="000000"/>
                </a:solidFill>
                <a:latin typeface="Calibri"/>
                <a:ea typeface="Calibri"/>
                <a:cs typeface="Calibri"/>
                <a:sym typeface="Calibri"/>
              </a:rPr>
              <a:t>completion of </a:t>
            </a:r>
            <a:r>
              <a:rPr lang="en-US" sz="2000" b="0" i="0" u="none" strike="noStrike" cap="none" dirty="0">
                <a:solidFill>
                  <a:srgbClr val="000000"/>
                </a:solidFill>
                <a:latin typeface="Calibri"/>
                <a:ea typeface="Calibri"/>
                <a:cs typeface="Calibri"/>
                <a:sym typeface="Calibri"/>
              </a:rPr>
              <a:t>all </a:t>
            </a:r>
            <a:r>
              <a:rPr lang="en-US" sz="2000" dirty="0">
                <a:latin typeface="Calibri"/>
                <a:ea typeface="Calibri"/>
                <a:cs typeface="Calibri"/>
                <a:sym typeface="Calibri"/>
              </a:rPr>
              <a:t>downstream</a:t>
            </a:r>
            <a:r>
              <a:rPr lang="en-US" sz="2000" b="0" i="0" u="none" strike="noStrike" cap="none" dirty="0">
                <a:solidFill>
                  <a:srgbClr val="000000"/>
                </a:solidFill>
                <a:latin typeface="Calibri"/>
                <a:ea typeface="Calibri"/>
                <a:cs typeface="Calibri"/>
                <a:sym typeface="Calibri"/>
              </a:rPr>
              <a:t> activities</a:t>
            </a:r>
            <a:endParaRPr sz="1600" b="0" i="0" u="none" strike="noStrike" cap="none">
              <a:solidFill>
                <a:srgbClr val="000000"/>
              </a:solidFill>
              <a:latin typeface="Calibri"/>
              <a:ea typeface="Calibri"/>
              <a:cs typeface="Calibri"/>
              <a:sym typeface="Calibri"/>
            </a:endParaRPr>
          </a:p>
          <a:p>
            <a:pPr marL="742950" marR="0" lvl="1" indent="-285750" algn="l" rtl="0">
              <a:lnSpc>
                <a:spcPct val="100000"/>
              </a:lnSpc>
              <a:spcBef>
                <a:spcPts val="1200"/>
              </a:spcBef>
              <a:spcAft>
                <a:spcPts val="0"/>
              </a:spcAft>
              <a:buClr>
                <a:srgbClr val="808080"/>
              </a:buClr>
              <a:buSzPts val="2000"/>
              <a:buFont typeface="Arial"/>
              <a:buChar char="•"/>
            </a:pPr>
            <a:r>
              <a:rPr lang="en-US" sz="2000" b="0" i="0" u="none" strike="noStrike" cap="none" dirty="0">
                <a:solidFill>
                  <a:srgbClr val="000000"/>
                </a:solidFill>
                <a:latin typeface="Calibri"/>
                <a:ea typeface="Calibri"/>
                <a:cs typeface="Calibri"/>
                <a:sym typeface="Calibri"/>
              </a:rPr>
              <a:t>Errors introduced during requirements phase if not handled properly </a:t>
            </a:r>
            <a:r>
              <a:rPr lang="en-US" sz="2000" b="0" i="0" u="none" strike="noStrike" cap="none" dirty="0" smtClean="0">
                <a:solidFill>
                  <a:srgbClr val="000000"/>
                </a:solidFill>
                <a:latin typeface="Calibri"/>
                <a:ea typeface="Calibri"/>
                <a:cs typeface="Calibri"/>
                <a:sym typeface="Calibri"/>
              </a:rPr>
              <a:t>and early will </a:t>
            </a:r>
            <a:r>
              <a:rPr lang="en-US" sz="2000" b="0" i="0" u="none" strike="noStrike" cap="none" dirty="0">
                <a:solidFill>
                  <a:srgbClr val="000000"/>
                </a:solidFill>
                <a:latin typeface="Calibri"/>
                <a:ea typeface="Calibri"/>
                <a:cs typeface="Calibri"/>
                <a:sym typeface="Calibri"/>
              </a:rPr>
              <a:t>propagate into the subsequent phases </a:t>
            </a:r>
            <a:endParaRPr sz="1400" b="0" i="0" u="none" strike="noStrike" cap="none">
              <a:solidFill>
                <a:srgbClr val="000000"/>
              </a:solidFill>
              <a:latin typeface="Arial"/>
              <a:ea typeface="Arial"/>
              <a:cs typeface="Arial"/>
              <a:sym typeface="Arial"/>
            </a:endParaRPr>
          </a:p>
          <a:p>
            <a:pPr marL="742950" lvl="1" indent="-285750">
              <a:spcBef>
                <a:spcPts val="1200"/>
              </a:spcBef>
              <a:buClr>
                <a:srgbClr val="808080"/>
              </a:buClr>
              <a:buSzPts val="2000"/>
              <a:buFont typeface="Arial"/>
              <a:buChar char="•"/>
            </a:pPr>
            <a:r>
              <a:rPr lang="en-IN" sz="2000" dirty="0" smtClean="0">
                <a:latin typeface="Calibri"/>
                <a:ea typeface="Calibri"/>
                <a:cs typeface="Calibri"/>
                <a:sym typeface="Calibri"/>
              </a:rPr>
              <a:t>Requirement errors are expensive to fix at a later stage</a:t>
            </a:r>
          </a:p>
          <a:p>
            <a:pPr marL="742950" marR="0" lvl="1" indent="-285750" algn="l" rtl="0">
              <a:lnSpc>
                <a:spcPct val="100000"/>
              </a:lnSpc>
              <a:spcBef>
                <a:spcPts val="1200"/>
              </a:spcBef>
              <a:spcAft>
                <a:spcPts val="0"/>
              </a:spcAft>
              <a:buClr>
                <a:srgbClr val="808080"/>
              </a:buClr>
              <a:buSzPts val="2000"/>
              <a:buFont typeface="Arial"/>
              <a:buChar char="•"/>
            </a:pPr>
            <a:r>
              <a:rPr lang="en-US" sz="2000" b="0" i="0" u="none" strike="noStrike" cap="none" dirty="0" smtClean="0">
                <a:solidFill>
                  <a:srgbClr val="000000"/>
                </a:solidFill>
                <a:latin typeface="Calibri"/>
                <a:ea typeface="Calibri"/>
                <a:cs typeface="Calibri"/>
                <a:sym typeface="Calibri"/>
              </a:rPr>
              <a:t>Unnecessary</a:t>
            </a:r>
            <a:r>
              <a:rPr lang="en-US" sz="2000" b="0" i="0" u="none" strike="noStrike" cap="none" dirty="0">
                <a:solidFill>
                  <a:srgbClr val="000000"/>
                </a:solidFill>
                <a:latin typeface="Calibri"/>
                <a:ea typeface="Calibri"/>
                <a:cs typeface="Calibri"/>
                <a:sym typeface="Calibri"/>
              </a:rPr>
              <a:t>, </a:t>
            </a:r>
            <a:r>
              <a:rPr lang="en-US" sz="2000" b="0" i="0" u="none" strike="noStrike" cap="none" dirty="0" smtClean="0">
                <a:solidFill>
                  <a:srgbClr val="000000"/>
                </a:solidFill>
                <a:latin typeface="Calibri"/>
                <a:ea typeface="Calibri"/>
                <a:cs typeface="Calibri"/>
                <a:sym typeface="Calibri"/>
              </a:rPr>
              <a:t>late </a:t>
            </a:r>
            <a:r>
              <a:rPr lang="en-US" sz="2000" b="0" i="0" u="none" strike="noStrike" cap="none" dirty="0">
                <a:solidFill>
                  <a:srgbClr val="000000"/>
                </a:solidFill>
                <a:latin typeface="Calibri"/>
                <a:ea typeface="Calibri"/>
                <a:cs typeface="Calibri"/>
                <a:sym typeface="Calibri"/>
              </a:rPr>
              <a:t>or invalid requirements can make the system cumbersome or </a:t>
            </a:r>
            <a:r>
              <a:rPr lang="en-US" sz="2000" b="0" i="0" u="none" strike="noStrike" cap="none" dirty="0" smtClean="0">
                <a:solidFill>
                  <a:srgbClr val="000000"/>
                </a:solidFill>
                <a:latin typeface="Calibri"/>
                <a:ea typeface="Calibri"/>
                <a:cs typeface="Calibri"/>
                <a:sym typeface="Calibri"/>
              </a:rPr>
              <a:t>slip</a:t>
            </a:r>
            <a:endParaRPr sz="1400" b="0" i="0" u="none" strike="noStrike" cap="none">
              <a:solidFill>
                <a:srgbClr val="000000"/>
              </a:solidFill>
              <a:latin typeface="Arial"/>
              <a:ea typeface="Arial"/>
              <a:cs typeface="Arial"/>
              <a:sym typeface="Arial"/>
            </a:endParaRPr>
          </a:p>
        </p:txBody>
      </p:sp>
      <p:sp>
        <p:nvSpPr>
          <p:cNvPr id="144" name="Google Shape;144;p2"/>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Engineering</a:t>
            </a:r>
            <a:endParaRPr sz="2000" b="1" i="0" u="none" strike="noStrike" cap="none">
              <a:solidFill>
                <a:srgbClr val="C55A11"/>
              </a:solidFill>
              <a:latin typeface="Calibri"/>
              <a:ea typeface="Calibri"/>
              <a:cs typeface="Calibri"/>
              <a:sym typeface="Calibri"/>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52" name="Google Shape;152;p3"/>
          <p:cNvSpPr txBox="1"/>
          <p:nvPr/>
        </p:nvSpPr>
        <p:spPr>
          <a:xfrm>
            <a:off x="301558" y="1459389"/>
            <a:ext cx="8968902" cy="539861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36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 name="Google Shape;154;p3"/>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Engineering</a:t>
            </a:r>
            <a:endParaRPr sz="2000" b="1" i="0" u="none" strike="noStrike" cap="none">
              <a:solidFill>
                <a:srgbClr val="C55A11"/>
              </a:solidFill>
              <a:latin typeface="Calibri"/>
              <a:ea typeface="Calibri"/>
              <a:cs typeface="Calibri"/>
              <a:sym typeface="Calibri"/>
            </a:endParaRPr>
          </a:p>
        </p:txBody>
      </p:sp>
      <p:grpSp>
        <p:nvGrpSpPr>
          <p:cNvPr id="17" name="Group 16"/>
          <p:cNvGrpSpPr/>
          <p:nvPr/>
        </p:nvGrpSpPr>
        <p:grpSpPr>
          <a:xfrm>
            <a:off x="795888" y="1769785"/>
            <a:ext cx="8334859" cy="4673924"/>
            <a:chOff x="795888" y="1769785"/>
            <a:chExt cx="8334859" cy="4673924"/>
          </a:xfrm>
        </p:grpSpPr>
        <p:pic>
          <p:nvPicPr>
            <p:cNvPr id="156" name="Google Shape;156;p3"/>
            <p:cNvPicPr preferRelativeResize="0"/>
            <p:nvPr/>
          </p:nvPicPr>
          <p:blipFill rotWithShape="1">
            <a:blip r:embed="rId3">
              <a:alphaModFix/>
            </a:blip>
            <a:srcRect/>
            <a:stretch/>
          </p:blipFill>
          <p:spPr>
            <a:xfrm>
              <a:off x="814406" y="1769785"/>
              <a:ext cx="1266184" cy="2212166"/>
            </a:xfrm>
            <a:prstGeom prst="rect">
              <a:avLst/>
            </a:prstGeom>
            <a:noFill/>
            <a:ln>
              <a:noFill/>
            </a:ln>
          </p:spPr>
        </p:pic>
        <p:pic>
          <p:nvPicPr>
            <p:cNvPr id="157" name="Google Shape;157;p3"/>
            <p:cNvPicPr preferRelativeResize="0"/>
            <p:nvPr/>
          </p:nvPicPr>
          <p:blipFill rotWithShape="1">
            <a:blip r:embed="rId4">
              <a:alphaModFix/>
            </a:blip>
            <a:srcRect/>
            <a:stretch/>
          </p:blipFill>
          <p:spPr>
            <a:xfrm>
              <a:off x="2722308" y="1787451"/>
              <a:ext cx="1228700" cy="2161697"/>
            </a:xfrm>
            <a:prstGeom prst="rect">
              <a:avLst/>
            </a:prstGeom>
            <a:noFill/>
            <a:ln>
              <a:noFill/>
            </a:ln>
          </p:spPr>
        </p:pic>
        <p:pic>
          <p:nvPicPr>
            <p:cNvPr id="158" name="Google Shape;158;p3"/>
            <p:cNvPicPr preferRelativeResize="0"/>
            <p:nvPr/>
          </p:nvPicPr>
          <p:blipFill rotWithShape="1">
            <a:blip r:embed="rId5">
              <a:alphaModFix/>
            </a:blip>
            <a:srcRect/>
            <a:stretch/>
          </p:blipFill>
          <p:spPr>
            <a:xfrm>
              <a:off x="4506341" y="1780118"/>
              <a:ext cx="1232738" cy="2116021"/>
            </a:xfrm>
            <a:prstGeom prst="rect">
              <a:avLst/>
            </a:prstGeom>
            <a:noFill/>
            <a:ln>
              <a:noFill/>
            </a:ln>
          </p:spPr>
        </p:pic>
        <p:pic>
          <p:nvPicPr>
            <p:cNvPr id="159" name="Google Shape;159;p3"/>
            <p:cNvPicPr preferRelativeResize="0"/>
            <p:nvPr/>
          </p:nvPicPr>
          <p:blipFill rotWithShape="1">
            <a:blip r:embed="rId6">
              <a:alphaModFix/>
            </a:blip>
            <a:srcRect/>
            <a:stretch/>
          </p:blipFill>
          <p:spPr>
            <a:xfrm>
              <a:off x="6298776" y="1780658"/>
              <a:ext cx="1188701" cy="2143435"/>
            </a:xfrm>
            <a:prstGeom prst="rect">
              <a:avLst/>
            </a:prstGeom>
            <a:noFill/>
            <a:ln>
              <a:noFill/>
            </a:ln>
          </p:spPr>
        </p:pic>
        <p:pic>
          <p:nvPicPr>
            <p:cNvPr id="160" name="Google Shape;160;p3"/>
            <p:cNvPicPr preferRelativeResize="0"/>
            <p:nvPr/>
          </p:nvPicPr>
          <p:blipFill rotWithShape="1">
            <a:blip r:embed="rId7">
              <a:alphaModFix/>
            </a:blip>
            <a:srcRect/>
            <a:stretch/>
          </p:blipFill>
          <p:spPr>
            <a:xfrm>
              <a:off x="8010194" y="1788029"/>
              <a:ext cx="1120553" cy="2162318"/>
            </a:xfrm>
            <a:prstGeom prst="rect">
              <a:avLst/>
            </a:prstGeom>
            <a:noFill/>
            <a:ln>
              <a:noFill/>
            </a:ln>
          </p:spPr>
        </p:pic>
        <p:pic>
          <p:nvPicPr>
            <p:cNvPr id="161" name="Google Shape;161;p3"/>
            <p:cNvPicPr preferRelativeResize="0"/>
            <p:nvPr/>
          </p:nvPicPr>
          <p:blipFill rotWithShape="1">
            <a:blip r:embed="rId8">
              <a:alphaModFix/>
            </a:blip>
            <a:srcRect/>
            <a:stretch/>
          </p:blipFill>
          <p:spPr>
            <a:xfrm>
              <a:off x="795888" y="4576220"/>
              <a:ext cx="1271449" cy="1867489"/>
            </a:xfrm>
            <a:prstGeom prst="rect">
              <a:avLst/>
            </a:prstGeom>
            <a:noFill/>
            <a:ln>
              <a:noFill/>
            </a:ln>
          </p:spPr>
        </p:pic>
        <p:pic>
          <p:nvPicPr>
            <p:cNvPr id="162" name="Google Shape;162;p3"/>
            <p:cNvPicPr preferRelativeResize="0"/>
            <p:nvPr/>
          </p:nvPicPr>
          <p:blipFill rotWithShape="1">
            <a:blip r:embed="rId9">
              <a:alphaModFix/>
            </a:blip>
            <a:srcRect/>
            <a:stretch/>
          </p:blipFill>
          <p:spPr>
            <a:xfrm>
              <a:off x="2646108" y="4565700"/>
              <a:ext cx="1341011" cy="1821850"/>
            </a:xfrm>
            <a:prstGeom prst="rect">
              <a:avLst/>
            </a:prstGeom>
            <a:noFill/>
            <a:ln>
              <a:noFill/>
            </a:ln>
          </p:spPr>
        </p:pic>
        <p:pic>
          <p:nvPicPr>
            <p:cNvPr id="163" name="Google Shape;163;p3"/>
            <p:cNvPicPr preferRelativeResize="0"/>
            <p:nvPr/>
          </p:nvPicPr>
          <p:blipFill rotWithShape="1">
            <a:blip r:embed="rId10">
              <a:alphaModFix/>
            </a:blip>
            <a:srcRect/>
            <a:stretch/>
          </p:blipFill>
          <p:spPr>
            <a:xfrm>
              <a:off x="4489942" y="4554574"/>
              <a:ext cx="1301257" cy="1840948"/>
            </a:xfrm>
            <a:prstGeom prst="rect">
              <a:avLst/>
            </a:prstGeom>
            <a:noFill/>
            <a:ln>
              <a:noFill/>
            </a:ln>
          </p:spPr>
        </p:pic>
        <p:pic>
          <p:nvPicPr>
            <p:cNvPr id="164" name="Google Shape;164;p3"/>
            <p:cNvPicPr preferRelativeResize="0"/>
            <p:nvPr/>
          </p:nvPicPr>
          <p:blipFill rotWithShape="1">
            <a:blip r:embed="rId11">
              <a:alphaModFix/>
            </a:blip>
            <a:srcRect/>
            <a:stretch/>
          </p:blipFill>
          <p:spPr>
            <a:xfrm>
              <a:off x="6300082" y="4518687"/>
              <a:ext cx="1253656" cy="1790991"/>
            </a:xfrm>
            <a:prstGeom prst="rect">
              <a:avLst/>
            </a:prstGeom>
            <a:noFill/>
            <a:ln>
              <a:noFill/>
            </a:ln>
          </p:spPr>
        </p:pic>
        <p:pic>
          <p:nvPicPr>
            <p:cNvPr id="165" name="Google Shape;165;p3"/>
            <p:cNvPicPr preferRelativeResize="0"/>
            <p:nvPr/>
          </p:nvPicPr>
          <p:blipFill rotWithShape="1">
            <a:blip r:embed="rId12">
              <a:alphaModFix/>
            </a:blip>
            <a:srcRect/>
            <a:stretch/>
          </p:blipFill>
          <p:spPr>
            <a:xfrm>
              <a:off x="7956247" y="4501565"/>
              <a:ext cx="1174500" cy="1850223"/>
            </a:xfrm>
            <a:prstGeom prst="rect">
              <a:avLst/>
            </a:prstGeom>
            <a:noFill/>
            <a:ln>
              <a:noFill/>
            </a:ln>
          </p:spPr>
        </p:pic>
      </p:gr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4"/>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73" name="Google Shape;173;p4"/>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Engineering</a:t>
            </a:r>
            <a:endParaRPr sz="2000" b="1" i="0" u="none" strike="noStrike" cap="none">
              <a:solidFill>
                <a:srgbClr val="C55A11"/>
              </a:solidFill>
              <a:latin typeface="Calibri"/>
              <a:ea typeface="Calibri"/>
              <a:cs typeface="Calibri"/>
              <a:sym typeface="Calibri"/>
            </a:endParaRPr>
          </a:p>
        </p:txBody>
      </p:sp>
      <p:sp>
        <p:nvSpPr>
          <p:cNvPr id="175" name="Google Shape;175;p4"/>
          <p:cNvSpPr/>
          <p:nvPr/>
        </p:nvSpPr>
        <p:spPr>
          <a:xfrm>
            <a:off x="487674" y="1769775"/>
            <a:ext cx="10092900" cy="34560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30000"/>
              </a:lnSpc>
              <a:spcBef>
                <a:spcPts val="0"/>
              </a:spcBef>
              <a:spcAft>
                <a:spcPts val="0"/>
              </a:spcAft>
              <a:buClr>
                <a:srgbClr val="808080"/>
              </a:buClr>
              <a:buSzPts val="1920"/>
              <a:buFont typeface="Calibri"/>
              <a:buChar char="•"/>
            </a:pPr>
            <a:r>
              <a:rPr lang="en-US" sz="2400" b="0" i="0" u="none" strike="noStrike" cap="none">
                <a:solidFill>
                  <a:srgbClr val="000000"/>
                </a:solidFill>
                <a:latin typeface="Calibri"/>
                <a:ea typeface="Calibri"/>
                <a:cs typeface="Calibri"/>
                <a:sym typeface="Calibri"/>
              </a:rPr>
              <a:t>Requirement is the Property which must be exhibited by software developed/adapted to solve a particular problem</a:t>
            </a:r>
            <a:endParaRPr sz="1400" b="0" i="0" u="none" strike="noStrike" cap="none">
              <a:solidFill>
                <a:srgbClr val="000000"/>
              </a:solidFill>
              <a:latin typeface="Arial"/>
              <a:ea typeface="Arial"/>
              <a:cs typeface="Arial"/>
              <a:sym typeface="Arial"/>
            </a:endParaRPr>
          </a:p>
          <a:p>
            <a:pPr marL="342900" marR="0" lvl="0" indent="-342900" algn="l" rtl="0">
              <a:lnSpc>
                <a:spcPct val="130000"/>
              </a:lnSpc>
              <a:spcBef>
                <a:spcPts val="600"/>
              </a:spcBef>
              <a:spcAft>
                <a:spcPts val="0"/>
              </a:spcAft>
              <a:buClr>
                <a:srgbClr val="808080"/>
              </a:buClr>
              <a:buSzPts val="1920"/>
              <a:buFont typeface="Calibri"/>
              <a:buChar char="•"/>
            </a:pPr>
            <a:r>
              <a:rPr lang="en-US" sz="2400" b="0" i="0" u="none" strike="noStrike" cap="none">
                <a:solidFill>
                  <a:srgbClr val="000000"/>
                </a:solidFill>
                <a:latin typeface="Calibri"/>
                <a:ea typeface="Calibri"/>
                <a:cs typeface="Calibri"/>
                <a:sym typeface="Calibri"/>
              </a:rPr>
              <a:t>Requirement should specify the externally visible behavior of </a:t>
            </a:r>
            <a:r>
              <a:rPr lang="en-US" sz="2400" b="1" i="0" u="none" strike="noStrike" cap="none">
                <a:solidFill>
                  <a:srgbClr val="0070C0"/>
                </a:solidFill>
                <a:latin typeface="Calibri"/>
                <a:ea typeface="Calibri"/>
                <a:cs typeface="Calibri"/>
                <a:sym typeface="Calibri"/>
              </a:rPr>
              <a:t>what</a:t>
            </a:r>
            <a:r>
              <a:rPr lang="en-US" sz="2400" b="0" i="0" u="none" strike="noStrike" cap="none">
                <a:solidFill>
                  <a:srgbClr val="000000"/>
                </a:solidFill>
                <a:latin typeface="Calibri"/>
                <a:ea typeface="Calibri"/>
                <a:cs typeface="Calibri"/>
                <a:sym typeface="Calibri"/>
              </a:rPr>
              <a:t> and </a:t>
            </a:r>
            <a:r>
              <a:rPr lang="en-US" sz="2400" b="1" i="0" u="none" strike="noStrike" cap="none">
                <a:solidFill>
                  <a:srgbClr val="0070C0"/>
                </a:solidFill>
                <a:latin typeface="Calibri"/>
                <a:ea typeface="Calibri"/>
                <a:cs typeface="Calibri"/>
                <a:sym typeface="Calibri"/>
              </a:rPr>
              <a:t>not how</a:t>
            </a:r>
            <a:endParaRPr sz="1400" b="0" i="0" u="none" strike="noStrike" cap="none">
              <a:solidFill>
                <a:srgbClr val="000000"/>
              </a:solidFill>
              <a:latin typeface="Arial"/>
              <a:ea typeface="Arial"/>
              <a:cs typeface="Arial"/>
              <a:sym typeface="Arial"/>
            </a:endParaRPr>
          </a:p>
          <a:p>
            <a:pPr marL="342900" marR="0" lvl="0" indent="-342900" algn="l" rtl="0">
              <a:lnSpc>
                <a:spcPct val="150000"/>
              </a:lnSpc>
              <a:spcBef>
                <a:spcPts val="600"/>
              </a:spcBef>
              <a:spcAft>
                <a:spcPts val="0"/>
              </a:spcAft>
              <a:buClr>
                <a:srgbClr val="808080"/>
              </a:buClr>
              <a:buSzPts val="1920"/>
              <a:buFont typeface="Calibri"/>
              <a:buChar char="•"/>
            </a:pPr>
            <a:r>
              <a:rPr lang="en-US" sz="2400" b="0" i="0" u="none" strike="noStrike" cap="none">
                <a:solidFill>
                  <a:srgbClr val="000000"/>
                </a:solidFill>
                <a:latin typeface="Calibri"/>
                <a:ea typeface="Calibri"/>
                <a:cs typeface="Calibri"/>
                <a:sym typeface="Calibri"/>
              </a:rPr>
              <a:t>Requirements can be looked at as</a:t>
            </a:r>
            <a:endParaRPr sz="1400" b="0" i="0" u="none" strike="noStrike" cap="none">
              <a:solidFill>
                <a:srgbClr val="000000"/>
              </a:solidFill>
              <a:latin typeface="Arial"/>
              <a:ea typeface="Arial"/>
              <a:cs typeface="Arial"/>
              <a:sym typeface="Arial"/>
            </a:endParaRPr>
          </a:p>
          <a:p>
            <a:pPr marL="800100" marR="0" lvl="1" indent="-342900" algn="l" rtl="0">
              <a:lnSpc>
                <a:spcPct val="100000"/>
              </a:lnSpc>
              <a:spcBef>
                <a:spcPts val="480"/>
              </a:spcBef>
              <a:spcAft>
                <a:spcPts val="0"/>
              </a:spcAft>
              <a:buClr>
                <a:srgbClr val="808080"/>
              </a:buClr>
              <a:buSzPts val="1920"/>
              <a:buFont typeface="Calibri"/>
              <a:buChar char="•"/>
            </a:pPr>
            <a:r>
              <a:rPr lang="en-US" sz="2400" b="0" i="0" u="none" strike="noStrike" cap="none">
                <a:solidFill>
                  <a:srgbClr val="000000"/>
                </a:solidFill>
                <a:latin typeface="Calibri"/>
                <a:ea typeface="Calibri"/>
                <a:cs typeface="Calibri"/>
                <a:sym typeface="Calibri"/>
              </a:rPr>
              <a:t>Individual requirements </a:t>
            </a:r>
            <a:endParaRPr sz="1400" b="0" i="0" u="none" strike="noStrike" cap="none">
              <a:solidFill>
                <a:srgbClr val="000000"/>
              </a:solidFill>
              <a:latin typeface="Arial"/>
              <a:ea typeface="Arial"/>
              <a:cs typeface="Arial"/>
              <a:sym typeface="Arial"/>
            </a:endParaRPr>
          </a:p>
          <a:p>
            <a:pPr marL="800100" marR="0" lvl="1" indent="-342900" algn="l" rtl="0">
              <a:lnSpc>
                <a:spcPct val="100000"/>
              </a:lnSpc>
              <a:spcBef>
                <a:spcPts val="480"/>
              </a:spcBef>
              <a:spcAft>
                <a:spcPts val="0"/>
              </a:spcAft>
              <a:buClr>
                <a:srgbClr val="808080"/>
              </a:buClr>
              <a:buSzPts val="1920"/>
              <a:buFont typeface="Calibri"/>
              <a:buChar char="•"/>
            </a:pPr>
            <a:r>
              <a:rPr lang="en-US" sz="2400" b="0" i="0" u="none" strike="noStrike" cap="none">
                <a:solidFill>
                  <a:srgbClr val="000000"/>
                </a:solidFill>
                <a:latin typeface="Calibri"/>
                <a:ea typeface="Calibri"/>
                <a:cs typeface="Calibri"/>
                <a:sym typeface="Calibri"/>
              </a:rPr>
              <a:t>Set of requirements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5"/>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83" name="Google Shape;183;p5"/>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Engineering</a:t>
            </a:r>
            <a:endParaRPr sz="2000" b="1" i="0" u="none" strike="noStrike" cap="none">
              <a:solidFill>
                <a:srgbClr val="C55A11"/>
              </a:solidFill>
              <a:latin typeface="Calibri"/>
              <a:ea typeface="Calibri"/>
              <a:cs typeface="Calibri"/>
              <a:sym typeface="Calibri"/>
            </a:endParaRPr>
          </a:p>
        </p:txBody>
      </p:sp>
      <p:sp>
        <p:nvSpPr>
          <p:cNvPr id="185" name="Google Shape;185;p5"/>
          <p:cNvSpPr/>
          <p:nvPr/>
        </p:nvSpPr>
        <p:spPr>
          <a:xfrm>
            <a:off x="490900" y="1769775"/>
            <a:ext cx="10630200" cy="2868900"/>
          </a:xfrm>
          <a:prstGeom prst="rect">
            <a:avLst/>
          </a:prstGeom>
          <a:no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Is a process of working proactively with all stakeholders gathering their needs, articulating their problem, identify and negotiate potential conflicts thereby </a:t>
            </a:r>
            <a:r>
              <a:rPr lang="en-US" sz="2400" b="1" i="0" u="none" strike="noStrike" cap="none">
                <a:solidFill>
                  <a:srgbClr val="0070C0"/>
                </a:solidFill>
                <a:latin typeface="Calibri"/>
                <a:ea typeface="Calibri"/>
                <a:cs typeface="Calibri"/>
                <a:sym typeface="Calibri"/>
              </a:rPr>
              <a:t>establishing a clear scope and boundary for a project.</a:t>
            </a:r>
            <a:endParaRPr sz="1400" b="0" i="0" u="none" strike="noStrike" cap="none">
              <a:solidFill>
                <a:srgbClr val="000000"/>
              </a:solidFill>
              <a:latin typeface="Arial"/>
              <a:ea typeface="Arial"/>
              <a:cs typeface="Arial"/>
              <a:sym typeface="Arial"/>
            </a:endParaRPr>
          </a:p>
          <a:p>
            <a:pPr marL="0" marR="0" lvl="0" indent="0" algn="just" rtl="0">
              <a:lnSpc>
                <a:spcPct val="120000"/>
              </a:lnSpc>
              <a:spcBef>
                <a:spcPts val="60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It can also be described as a process of ensuring that the stakeholders have been identified and they have been given an </a:t>
            </a:r>
            <a:r>
              <a:rPr lang="en-US" sz="2400" b="1" i="0" u="none" strike="noStrike" cap="none">
                <a:solidFill>
                  <a:srgbClr val="0070C0"/>
                </a:solidFill>
                <a:latin typeface="Calibri"/>
                <a:ea typeface="Calibri"/>
                <a:cs typeface="Calibri"/>
                <a:sym typeface="Calibri"/>
              </a:rPr>
              <a:t>opportunity to explain their problem and needs</a:t>
            </a:r>
            <a:r>
              <a:rPr lang="en-US" sz="2400" b="0" i="0" u="none" strike="noStrike" cap="none">
                <a:solidFill>
                  <a:srgbClr val="000000"/>
                </a:solidFill>
                <a:latin typeface="Calibri"/>
                <a:ea typeface="Calibri"/>
                <a:cs typeface="Calibri"/>
                <a:sym typeface="Calibri"/>
              </a:rPr>
              <a:t> and describe what they would like the new system to do.</a:t>
            </a:r>
            <a:endParaRPr sz="1400" b="0" i="0" u="none" strike="noStrike" cap="none">
              <a:solidFill>
                <a:srgbClr val="000000"/>
              </a:solidFill>
              <a:latin typeface="Arial"/>
              <a:ea typeface="Arial"/>
              <a:cs typeface="Arial"/>
              <a:sym typeface="Arial"/>
            </a:endParaRPr>
          </a:p>
        </p:txBody>
      </p:sp>
      <p:pic>
        <p:nvPicPr>
          <p:cNvPr id="186" name="Google Shape;186;p5"/>
          <p:cNvPicPr preferRelativeResize="0"/>
          <p:nvPr/>
        </p:nvPicPr>
        <p:blipFill rotWithShape="1">
          <a:blip r:embed="rId3">
            <a:alphaModFix/>
          </a:blip>
          <a:srcRect/>
          <a:stretch/>
        </p:blipFill>
        <p:spPr>
          <a:xfrm>
            <a:off x="571600" y="4828250"/>
            <a:ext cx="10380824" cy="1007975"/>
          </a:xfrm>
          <a:prstGeom prst="rect">
            <a:avLst/>
          </a:prstGeom>
          <a:noFill/>
          <a:ln>
            <a:noFill/>
          </a:ln>
        </p:spPr>
      </p:pic>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6"/>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94" name="Google Shape;194;p6"/>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Analysis Process</a:t>
            </a:r>
            <a:endParaRPr sz="2000" b="1" i="0" u="none" strike="noStrike" cap="none">
              <a:solidFill>
                <a:srgbClr val="C55A11"/>
              </a:solidFill>
              <a:latin typeface="Calibri"/>
              <a:ea typeface="Calibri"/>
              <a:cs typeface="Calibri"/>
              <a:sym typeface="Calibri"/>
            </a:endParaRPr>
          </a:p>
        </p:txBody>
      </p:sp>
      <p:sp>
        <p:nvSpPr>
          <p:cNvPr id="196" name="Google Shape;196;p6"/>
          <p:cNvSpPr/>
          <p:nvPr/>
        </p:nvSpPr>
        <p:spPr>
          <a:xfrm>
            <a:off x="490888" y="1769785"/>
            <a:ext cx="8653112" cy="3993081"/>
          </a:xfrm>
          <a:prstGeom prst="rect">
            <a:avLst/>
          </a:prstGeom>
          <a:noFill/>
          <a:ln>
            <a:noFill/>
          </a:ln>
        </p:spPr>
        <p:txBody>
          <a:bodyPr spcFirstLastPara="1" wrap="square" lIns="91425" tIns="45700" rIns="91425" bIns="45700" anchor="t" anchorCtr="0">
            <a:spAutoFit/>
          </a:bodyPr>
          <a:lstStyle/>
          <a:p>
            <a:pPr marL="457200" marR="0" lvl="1" indent="-457200" algn="l" rtl="0">
              <a:lnSpc>
                <a:spcPct val="120000"/>
              </a:lnSpc>
              <a:spcBef>
                <a:spcPts val="0"/>
              </a:spcBef>
              <a:spcAft>
                <a:spcPts val="0"/>
              </a:spcAft>
              <a:buClr>
                <a:srgbClr val="808080"/>
              </a:buClr>
              <a:buSzPts val="1920"/>
              <a:buFont typeface="Calibri"/>
              <a:buAutoNum type="arabicPeriod"/>
            </a:pPr>
            <a:r>
              <a:rPr lang="en-US" sz="2400" b="1" i="0" u="none" strike="noStrike" cap="none">
                <a:solidFill>
                  <a:schemeClr val="dk1"/>
                </a:solidFill>
                <a:latin typeface="Calibri"/>
                <a:ea typeface="Calibri"/>
                <a:cs typeface="Calibri"/>
                <a:sym typeface="Calibri"/>
              </a:rPr>
              <a:t>Understand the requirements in depth, both from a product and process perspective</a:t>
            </a:r>
            <a:endParaRPr sz="1400" b="0" i="0" u="none" strike="noStrike" cap="none">
              <a:solidFill>
                <a:srgbClr val="000000"/>
              </a:solidFill>
              <a:latin typeface="Arial"/>
              <a:ea typeface="Arial"/>
              <a:cs typeface="Arial"/>
              <a:sym typeface="Arial"/>
            </a:endParaRPr>
          </a:p>
          <a:p>
            <a:pPr marL="457200" marR="0" lvl="1" indent="-457200" algn="l" rtl="0">
              <a:lnSpc>
                <a:spcPct val="120000"/>
              </a:lnSpc>
              <a:spcBef>
                <a:spcPts val="600"/>
              </a:spcBef>
              <a:spcAft>
                <a:spcPts val="0"/>
              </a:spcAft>
              <a:buClr>
                <a:srgbClr val="808080"/>
              </a:buClr>
              <a:buSzPts val="1920"/>
              <a:buFont typeface="Calibri"/>
              <a:buAutoNum type="arabicPeriod"/>
            </a:pPr>
            <a:r>
              <a:rPr lang="en-US" sz="2400" b="1" i="0" u="none" strike="noStrike" cap="none">
                <a:solidFill>
                  <a:srgbClr val="0070C0"/>
                </a:solidFill>
                <a:latin typeface="Calibri"/>
                <a:ea typeface="Calibri"/>
                <a:cs typeface="Calibri"/>
                <a:sym typeface="Calibri"/>
              </a:rPr>
              <a:t>Classify and Organize the requirements into coherent clusters</a:t>
            </a:r>
            <a:endParaRPr sz="1400" b="0" i="0" u="none" strike="noStrike" cap="none">
              <a:solidFill>
                <a:srgbClr val="000000"/>
              </a:solidFill>
              <a:latin typeface="Arial"/>
              <a:ea typeface="Arial"/>
              <a:cs typeface="Arial"/>
              <a:sym typeface="Arial"/>
            </a:endParaRPr>
          </a:p>
          <a:p>
            <a:pPr marL="742950" marR="0" lvl="2" indent="-342900" algn="l" rtl="0">
              <a:lnSpc>
                <a:spcPct val="120000"/>
              </a:lnSpc>
              <a:spcBef>
                <a:spcPts val="600"/>
              </a:spcBef>
              <a:spcAft>
                <a:spcPts val="0"/>
              </a:spcAft>
              <a:buClr>
                <a:srgbClr val="808080"/>
              </a:buClr>
              <a:buSzPts val="1920"/>
              <a:buFont typeface="Calibri"/>
              <a:buChar char="•"/>
            </a:pPr>
            <a:r>
              <a:rPr lang="en-US" sz="2400" b="1" i="0" u="none" strike="noStrike" cap="none">
                <a:solidFill>
                  <a:srgbClr val="0070C0"/>
                </a:solidFill>
                <a:latin typeface="Calibri"/>
                <a:ea typeface="Calibri"/>
                <a:cs typeface="Calibri"/>
                <a:sym typeface="Calibri"/>
              </a:rPr>
              <a:t>Functional, Non-Functional &amp; Domain requirements</a:t>
            </a:r>
            <a:endParaRPr sz="1400" b="0" i="0" u="none" strike="noStrike" cap="none">
              <a:solidFill>
                <a:srgbClr val="000000"/>
              </a:solidFill>
              <a:latin typeface="Arial"/>
              <a:ea typeface="Arial"/>
              <a:cs typeface="Arial"/>
              <a:sym typeface="Arial"/>
            </a:endParaRPr>
          </a:p>
          <a:p>
            <a:pPr marL="742950" marR="0" lvl="2" indent="-342900" algn="l" rtl="0">
              <a:lnSpc>
                <a:spcPct val="120000"/>
              </a:lnSpc>
              <a:spcBef>
                <a:spcPts val="600"/>
              </a:spcBef>
              <a:spcAft>
                <a:spcPts val="0"/>
              </a:spcAft>
              <a:buClr>
                <a:srgbClr val="808080"/>
              </a:buClr>
              <a:buSzPts val="1920"/>
              <a:buFont typeface="Calibri"/>
              <a:buChar char="•"/>
            </a:pPr>
            <a:r>
              <a:rPr lang="en-US" sz="2400" b="1" i="0" u="none" strike="noStrike" cap="none">
                <a:solidFill>
                  <a:srgbClr val="0070C0"/>
                </a:solidFill>
                <a:latin typeface="Calibri"/>
                <a:ea typeface="Calibri"/>
                <a:cs typeface="Calibri"/>
                <a:sym typeface="Calibri"/>
              </a:rPr>
              <a:t>System and User Requirements</a:t>
            </a:r>
            <a:endParaRPr sz="1400" b="0" i="0" u="none" strike="noStrike" cap="none">
              <a:solidFill>
                <a:srgbClr val="000000"/>
              </a:solidFill>
              <a:latin typeface="Arial"/>
              <a:ea typeface="Arial"/>
              <a:cs typeface="Arial"/>
              <a:sym typeface="Arial"/>
            </a:endParaRPr>
          </a:p>
          <a:p>
            <a:pPr marL="457200" marR="0" lvl="1" indent="-457200" algn="l" rtl="0">
              <a:lnSpc>
                <a:spcPct val="120000"/>
              </a:lnSpc>
              <a:spcBef>
                <a:spcPts val="600"/>
              </a:spcBef>
              <a:spcAft>
                <a:spcPts val="0"/>
              </a:spcAft>
              <a:buClr>
                <a:srgbClr val="808080"/>
              </a:buClr>
              <a:buSzPts val="1920"/>
              <a:buFont typeface="Calibri"/>
              <a:buAutoNum type="arabicPeriod"/>
            </a:pPr>
            <a:r>
              <a:rPr lang="en-US" sz="2400" b="1" i="0" u="none" strike="noStrike" cap="none">
                <a:solidFill>
                  <a:schemeClr val="dk1"/>
                </a:solidFill>
                <a:latin typeface="Calibri"/>
                <a:ea typeface="Calibri"/>
                <a:cs typeface="Calibri"/>
                <a:sym typeface="Calibri"/>
              </a:rPr>
              <a:t>Model the requirements</a:t>
            </a:r>
            <a:endParaRPr sz="1400" b="0" i="0" u="none" strike="noStrike" cap="none">
              <a:solidFill>
                <a:srgbClr val="000000"/>
              </a:solidFill>
              <a:latin typeface="Arial"/>
              <a:ea typeface="Arial"/>
              <a:cs typeface="Arial"/>
              <a:sym typeface="Arial"/>
            </a:endParaRPr>
          </a:p>
          <a:p>
            <a:pPr marL="457200" marR="0" lvl="1" indent="-457200" algn="l" rtl="0">
              <a:lnSpc>
                <a:spcPct val="120000"/>
              </a:lnSpc>
              <a:spcBef>
                <a:spcPts val="600"/>
              </a:spcBef>
              <a:spcAft>
                <a:spcPts val="0"/>
              </a:spcAft>
              <a:buClr>
                <a:srgbClr val="808080"/>
              </a:buClr>
              <a:buSzPts val="1920"/>
              <a:buFont typeface="Calibri"/>
              <a:buAutoNum type="arabicPeriod"/>
            </a:pPr>
            <a:r>
              <a:rPr lang="en-US" sz="2400" b="1" i="0" u="none" strike="noStrike" cap="none">
                <a:solidFill>
                  <a:srgbClr val="0070C0"/>
                </a:solidFill>
                <a:latin typeface="Calibri"/>
                <a:ea typeface="Calibri"/>
                <a:cs typeface="Calibri"/>
                <a:sym typeface="Calibri"/>
              </a:rPr>
              <a:t>Analyze the requirements (if necessary) using fish bone diagram</a:t>
            </a:r>
            <a:endParaRPr sz="1400" b="0" i="0" u="none" strike="noStrike" cap="none">
              <a:solidFill>
                <a:srgbClr val="000000"/>
              </a:solidFill>
              <a:latin typeface="Arial"/>
              <a:ea typeface="Arial"/>
              <a:cs typeface="Arial"/>
              <a:sym typeface="Arial"/>
            </a:endParaRPr>
          </a:p>
        </p:txBody>
      </p:sp>
      <p:pic>
        <p:nvPicPr>
          <p:cNvPr id="197" name="Google Shape;197;p6"/>
          <p:cNvPicPr preferRelativeResize="0"/>
          <p:nvPr/>
        </p:nvPicPr>
        <p:blipFill rotWithShape="1">
          <a:blip r:embed="rId3">
            <a:alphaModFix/>
          </a:blip>
          <a:srcRect/>
          <a:stretch/>
        </p:blipFill>
        <p:spPr>
          <a:xfrm>
            <a:off x="5928855" y="51370"/>
            <a:ext cx="4983520" cy="1007982"/>
          </a:xfrm>
          <a:prstGeom prst="rect">
            <a:avLst/>
          </a:prstGeom>
          <a:noFill/>
          <a:ln>
            <a:noFill/>
          </a:ln>
        </p:spPr>
      </p:pic>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7"/>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05" name="Google Shape;205;p7"/>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Analysis Process</a:t>
            </a:r>
            <a:endParaRPr sz="2000" b="1" i="0" u="none" strike="noStrike" cap="none">
              <a:solidFill>
                <a:srgbClr val="C55A11"/>
              </a:solidFill>
              <a:latin typeface="Calibri"/>
              <a:ea typeface="Calibri"/>
              <a:cs typeface="Calibri"/>
              <a:sym typeface="Calibri"/>
            </a:endParaRPr>
          </a:p>
        </p:txBody>
      </p:sp>
      <p:sp>
        <p:nvSpPr>
          <p:cNvPr id="207" name="Google Shape;207;p7"/>
          <p:cNvSpPr/>
          <p:nvPr/>
        </p:nvSpPr>
        <p:spPr>
          <a:xfrm>
            <a:off x="490888" y="1769785"/>
            <a:ext cx="8653112" cy="3945696"/>
          </a:xfrm>
          <a:prstGeom prst="rect">
            <a:avLst/>
          </a:prstGeom>
          <a:noFill/>
          <a:ln>
            <a:noFill/>
          </a:ln>
        </p:spPr>
        <p:txBody>
          <a:bodyPr spcFirstLastPara="1" wrap="square" lIns="91425" tIns="45700" rIns="91425" bIns="45700" anchor="t" anchorCtr="0">
            <a:spAutoFit/>
          </a:bodyPr>
          <a:lstStyle/>
          <a:p>
            <a:pPr marL="457200" marR="0" lvl="1" indent="-457200" algn="l" rtl="0">
              <a:lnSpc>
                <a:spcPct val="120000"/>
              </a:lnSpc>
              <a:spcBef>
                <a:spcPts val="0"/>
              </a:spcBef>
              <a:spcAft>
                <a:spcPts val="0"/>
              </a:spcAft>
              <a:buClr>
                <a:srgbClr val="808080"/>
              </a:buClr>
              <a:buSzPts val="1920"/>
              <a:buFont typeface="Calibri"/>
              <a:buAutoNum type="arabicPeriod" startAt="5"/>
            </a:pPr>
            <a:r>
              <a:rPr lang="en-US" sz="2400" b="1" i="0" u="none" strike="noStrike" cap="none">
                <a:solidFill>
                  <a:schemeClr val="dk1"/>
                </a:solidFill>
                <a:latin typeface="Calibri"/>
                <a:ea typeface="Calibri"/>
                <a:cs typeface="Calibri"/>
                <a:sym typeface="Calibri"/>
              </a:rPr>
              <a:t>Recognize and resolve conflicts  (e.g., functionality v. cost v. timeliness)</a:t>
            </a:r>
            <a:endParaRPr sz="1400" b="0" i="0" u="none" strike="noStrike" cap="none">
              <a:solidFill>
                <a:srgbClr val="000000"/>
              </a:solidFill>
              <a:latin typeface="Arial"/>
              <a:ea typeface="Arial"/>
              <a:cs typeface="Arial"/>
              <a:sym typeface="Arial"/>
            </a:endParaRPr>
          </a:p>
          <a:p>
            <a:pPr marL="457200" marR="0" lvl="1" indent="-457200" algn="l" rtl="0">
              <a:lnSpc>
                <a:spcPct val="120000"/>
              </a:lnSpc>
              <a:spcBef>
                <a:spcPts val="600"/>
              </a:spcBef>
              <a:spcAft>
                <a:spcPts val="0"/>
              </a:spcAft>
              <a:buClr>
                <a:srgbClr val="808080"/>
              </a:buClr>
              <a:buSzPts val="1920"/>
              <a:buFont typeface="Calibri"/>
              <a:buAutoNum type="arabicPeriod" startAt="5"/>
            </a:pPr>
            <a:r>
              <a:rPr lang="en-US" sz="2400" b="1" i="0" u="none" strike="noStrike" cap="none">
                <a:solidFill>
                  <a:srgbClr val="0070C0"/>
                </a:solidFill>
                <a:latin typeface="Calibri"/>
                <a:ea typeface="Calibri"/>
                <a:cs typeface="Calibri"/>
                <a:sym typeface="Calibri"/>
              </a:rPr>
              <a:t>Negotiate Requirements</a:t>
            </a:r>
            <a:endParaRPr sz="1400" b="0" i="0" u="none" strike="noStrike" cap="none">
              <a:solidFill>
                <a:srgbClr val="000000"/>
              </a:solidFill>
              <a:latin typeface="Arial"/>
              <a:ea typeface="Arial"/>
              <a:cs typeface="Arial"/>
              <a:sym typeface="Arial"/>
            </a:endParaRPr>
          </a:p>
          <a:p>
            <a:pPr marL="457200" marR="0" lvl="1" indent="-457200" algn="l" rtl="0">
              <a:lnSpc>
                <a:spcPct val="120000"/>
              </a:lnSpc>
              <a:spcBef>
                <a:spcPts val="600"/>
              </a:spcBef>
              <a:spcAft>
                <a:spcPts val="0"/>
              </a:spcAft>
              <a:buClr>
                <a:srgbClr val="808080"/>
              </a:buClr>
              <a:buSzPts val="1920"/>
              <a:buFont typeface="Calibri"/>
              <a:buAutoNum type="arabicPeriod" startAt="5"/>
            </a:pPr>
            <a:r>
              <a:rPr lang="en-US" sz="2400" b="1" i="0" u="none" strike="noStrike" cap="none">
                <a:solidFill>
                  <a:schemeClr val="dk1"/>
                </a:solidFill>
                <a:latin typeface="Calibri"/>
                <a:ea typeface="Calibri"/>
                <a:cs typeface="Calibri"/>
                <a:sym typeface="Calibri"/>
              </a:rPr>
              <a:t>Prioritize the requirements (M</a:t>
            </a:r>
            <a:r>
              <a:rPr lang="en-US" sz="2400" b="1" i="0" u="none" strike="noStrike" cap="none">
                <a:solidFill>
                  <a:srgbClr val="00B050"/>
                </a:solidFill>
                <a:latin typeface="Calibri"/>
                <a:ea typeface="Calibri"/>
                <a:cs typeface="Calibri"/>
                <a:sym typeface="Calibri"/>
              </a:rPr>
              <a:t>o</a:t>
            </a:r>
            <a:r>
              <a:rPr lang="en-US" sz="2400" b="1" i="0" u="none" strike="noStrike" cap="none">
                <a:solidFill>
                  <a:schemeClr val="dk1"/>
                </a:solidFill>
                <a:latin typeface="Calibri"/>
                <a:ea typeface="Calibri"/>
                <a:cs typeface="Calibri"/>
                <a:sym typeface="Calibri"/>
              </a:rPr>
              <a:t>SC</a:t>
            </a:r>
            <a:r>
              <a:rPr lang="en-US" sz="2400" b="1" i="0" u="none" strike="noStrike" cap="none">
                <a:solidFill>
                  <a:srgbClr val="00B050"/>
                </a:solidFill>
                <a:latin typeface="Calibri"/>
                <a:ea typeface="Calibri"/>
                <a:cs typeface="Calibri"/>
                <a:sym typeface="Calibri"/>
              </a:rPr>
              <a:t>o</a:t>
            </a:r>
            <a:r>
              <a:rPr lang="en-US" sz="2400" b="1" i="0" u="none" strike="noStrike" cap="none">
                <a:solidFill>
                  <a:schemeClr val="dk1"/>
                </a:solidFill>
                <a:latin typeface="Calibri"/>
                <a:ea typeface="Calibri"/>
                <a:cs typeface="Calibri"/>
                <a:sym typeface="Calibri"/>
              </a:rPr>
              <a:t>W -Must have, Should have, Could have, Wont have)</a:t>
            </a:r>
            <a:endParaRPr sz="1400" b="0" i="0" u="none" strike="noStrike" cap="none">
              <a:solidFill>
                <a:srgbClr val="000000"/>
              </a:solidFill>
              <a:latin typeface="Arial"/>
              <a:ea typeface="Arial"/>
              <a:cs typeface="Arial"/>
              <a:sym typeface="Arial"/>
            </a:endParaRPr>
          </a:p>
          <a:p>
            <a:pPr marL="457200" marR="0" lvl="1" indent="-457200" algn="l" rtl="0">
              <a:lnSpc>
                <a:spcPct val="120000"/>
              </a:lnSpc>
              <a:spcBef>
                <a:spcPts val="600"/>
              </a:spcBef>
              <a:spcAft>
                <a:spcPts val="0"/>
              </a:spcAft>
              <a:buClr>
                <a:srgbClr val="808080"/>
              </a:buClr>
              <a:buSzPts val="1920"/>
              <a:buFont typeface="Calibri"/>
              <a:buAutoNum type="arabicPeriod" startAt="5"/>
            </a:pPr>
            <a:r>
              <a:rPr lang="en-US" sz="2400" b="1" i="0" u="none" strike="noStrike" cap="none">
                <a:solidFill>
                  <a:srgbClr val="0070C0"/>
                </a:solidFill>
                <a:latin typeface="Calibri"/>
                <a:ea typeface="Calibri"/>
                <a:cs typeface="Calibri"/>
                <a:sym typeface="Calibri"/>
              </a:rPr>
              <a:t>Identify risks if any </a:t>
            </a:r>
            <a:endParaRPr sz="2400" b="1" i="0" u="none" strike="noStrike" cap="none">
              <a:solidFill>
                <a:srgbClr val="0070C0"/>
              </a:solidFill>
              <a:latin typeface="Calibri"/>
              <a:ea typeface="Calibri"/>
              <a:cs typeface="Calibri"/>
              <a:sym typeface="Calibri"/>
            </a:endParaRPr>
          </a:p>
          <a:p>
            <a:pPr marL="457200" marR="0" lvl="1" indent="-457200" algn="l" rtl="0">
              <a:lnSpc>
                <a:spcPct val="120000"/>
              </a:lnSpc>
              <a:spcBef>
                <a:spcPts val="600"/>
              </a:spcBef>
              <a:spcAft>
                <a:spcPts val="0"/>
              </a:spcAft>
              <a:buClr>
                <a:srgbClr val="808080"/>
              </a:buClr>
              <a:buSzPts val="1920"/>
              <a:buFont typeface="Calibri"/>
              <a:buAutoNum type="arabicPeriod" startAt="5"/>
            </a:pPr>
            <a:r>
              <a:rPr lang="en-US" sz="2400" b="1" i="0" u="none" strike="noStrike" cap="none">
                <a:solidFill>
                  <a:schemeClr val="dk1"/>
                </a:solidFill>
                <a:latin typeface="Calibri"/>
                <a:ea typeface="Calibri"/>
                <a:cs typeface="Calibri"/>
                <a:sym typeface="Calibri"/>
              </a:rPr>
              <a:t>Decide on Build or Buy (</a:t>
            </a:r>
            <a:r>
              <a:rPr lang="en-US" sz="2400" b="1" i="0" u="none" strike="noStrike" cap="none">
                <a:solidFill>
                  <a:srgbClr val="0070C0"/>
                </a:solidFill>
                <a:latin typeface="Calibri"/>
                <a:ea typeface="Calibri"/>
                <a:cs typeface="Calibri"/>
                <a:sym typeface="Calibri"/>
              </a:rPr>
              <a:t>C</a:t>
            </a:r>
            <a:r>
              <a:rPr lang="en-US" sz="2400" b="1" i="0" u="none" strike="noStrike" cap="none">
                <a:solidFill>
                  <a:schemeClr val="dk1"/>
                </a:solidFill>
                <a:latin typeface="Calibri"/>
                <a:ea typeface="Calibri"/>
                <a:cs typeface="Calibri"/>
                <a:sym typeface="Calibri"/>
              </a:rPr>
              <a:t>ommercial </a:t>
            </a:r>
            <a:r>
              <a:rPr lang="en-US" sz="2400" b="1" i="0" u="none" strike="noStrike" cap="none">
                <a:solidFill>
                  <a:srgbClr val="0070C0"/>
                </a:solidFill>
                <a:latin typeface="Calibri"/>
                <a:ea typeface="Calibri"/>
                <a:cs typeface="Calibri"/>
                <a:sym typeface="Calibri"/>
              </a:rPr>
              <a:t>O</a:t>
            </a:r>
            <a:r>
              <a:rPr lang="en-US" sz="2400" b="1" i="0" u="none" strike="noStrike" cap="none">
                <a:solidFill>
                  <a:schemeClr val="dk1"/>
                </a:solidFill>
                <a:latin typeface="Calibri"/>
                <a:ea typeface="Calibri"/>
                <a:cs typeface="Calibri"/>
                <a:sym typeface="Calibri"/>
              </a:rPr>
              <a:t>f </a:t>
            </a:r>
            <a:r>
              <a:rPr lang="en-US" sz="2400" b="1" i="0" u="none" strike="noStrike" cap="none">
                <a:solidFill>
                  <a:srgbClr val="0070C0"/>
                </a:solidFill>
                <a:latin typeface="Calibri"/>
                <a:ea typeface="Calibri"/>
                <a:cs typeface="Calibri"/>
                <a:sym typeface="Calibri"/>
              </a:rPr>
              <a:t>T</a:t>
            </a:r>
            <a:r>
              <a:rPr lang="en-US" sz="2400" b="1" i="0" u="none" strike="noStrike" cap="none">
                <a:solidFill>
                  <a:schemeClr val="dk1"/>
                </a:solidFill>
                <a:latin typeface="Calibri"/>
                <a:ea typeface="Calibri"/>
                <a:cs typeface="Calibri"/>
                <a:sym typeface="Calibri"/>
              </a:rPr>
              <a:t>he </a:t>
            </a:r>
            <a:r>
              <a:rPr lang="en-US" sz="2400" b="1" i="0" u="none" strike="noStrike" cap="none">
                <a:solidFill>
                  <a:srgbClr val="0070C0"/>
                </a:solidFill>
                <a:latin typeface="Calibri"/>
                <a:ea typeface="Calibri"/>
                <a:cs typeface="Calibri"/>
                <a:sym typeface="Calibri"/>
              </a:rPr>
              <a:t>S</a:t>
            </a:r>
            <a:r>
              <a:rPr lang="en-US" sz="2400" b="1" i="0" u="none" strike="noStrike" cap="none">
                <a:solidFill>
                  <a:schemeClr val="dk1"/>
                </a:solidFill>
                <a:latin typeface="Calibri"/>
                <a:ea typeface="Calibri"/>
                <a:cs typeface="Calibri"/>
                <a:sym typeface="Calibri"/>
              </a:rPr>
              <a:t>helf Solution) and refine requirements</a:t>
            </a:r>
            <a:endParaRPr sz="1400" b="0" i="0" u="none" strike="noStrike" cap="none">
              <a:solidFill>
                <a:srgbClr val="000000"/>
              </a:solidFill>
              <a:latin typeface="Arial"/>
              <a:ea typeface="Arial"/>
              <a:cs typeface="Arial"/>
              <a:sym typeface="Arial"/>
            </a:endParaRPr>
          </a:p>
        </p:txBody>
      </p:sp>
      <p:pic>
        <p:nvPicPr>
          <p:cNvPr id="208" name="Google Shape;208;p7"/>
          <p:cNvPicPr preferRelativeResize="0"/>
          <p:nvPr/>
        </p:nvPicPr>
        <p:blipFill rotWithShape="1">
          <a:blip r:embed="rId3">
            <a:alphaModFix/>
          </a:blip>
          <a:srcRect/>
          <a:stretch/>
        </p:blipFill>
        <p:spPr>
          <a:xfrm>
            <a:off x="5918581" y="142182"/>
            <a:ext cx="4983520" cy="1007982"/>
          </a:xfrm>
          <a:prstGeom prst="rect">
            <a:avLst/>
          </a:prstGeom>
          <a:noFill/>
          <a:ln>
            <a:noFill/>
          </a:ln>
        </p:spPr>
      </p:pic>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213"/>
        <p:cNvGrpSpPr/>
        <p:nvPr/>
      </p:nvGrpSpPr>
      <p:grpSpPr>
        <a:xfrm>
          <a:off x="0" y="0"/>
          <a:ext cx="0" cy="0"/>
          <a:chOff x="0" y="0"/>
          <a:chExt cx="0" cy="0"/>
        </a:xfrm>
      </p:grpSpPr>
      <p:sp>
        <p:nvSpPr>
          <p:cNvPr id="214" name="Google Shape;214;p8"/>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16" name="Google Shape;216;p8"/>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Requirement Modelling</a:t>
            </a:r>
            <a:endParaRPr sz="2000" b="1" i="0" u="none" strike="noStrike" cap="none">
              <a:solidFill>
                <a:srgbClr val="C55A11"/>
              </a:solidFill>
              <a:latin typeface="Calibri"/>
              <a:ea typeface="Calibri"/>
              <a:cs typeface="Calibri"/>
              <a:sym typeface="Calibri"/>
            </a:endParaRPr>
          </a:p>
        </p:txBody>
      </p:sp>
      <p:sp>
        <p:nvSpPr>
          <p:cNvPr id="218" name="Google Shape;218;p8"/>
          <p:cNvSpPr/>
          <p:nvPr/>
        </p:nvSpPr>
        <p:spPr>
          <a:xfrm>
            <a:off x="325733" y="1399979"/>
            <a:ext cx="8750890" cy="45827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Calibri"/>
                <a:ea typeface="Calibri"/>
                <a:cs typeface="Calibri"/>
                <a:sym typeface="Calibri"/>
              </a:rPr>
              <a:t>A Model is a representation of a system in some form. </a:t>
            </a:r>
            <a:endParaRPr sz="2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Calibri"/>
                <a:ea typeface="Calibri"/>
                <a:cs typeface="Calibri"/>
                <a:sym typeface="Calibri"/>
              </a:rPr>
              <a:t>A is a Model of B if A can be used to answer questions about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Calibri"/>
                <a:ea typeface="Calibri"/>
                <a:cs typeface="Calibri"/>
                <a:sym typeface="Calibri"/>
              </a:rPr>
              <a:t>Part of Requirement Analysis and Specification phases.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70C0"/>
                </a:solidFill>
                <a:latin typeface="Calibri"/>
                <a:ea typeface="Calibri"/>
                <a:cs typeface="Calibri"/>
                <a:sym typeface="Calibri"/>
              </a:rPr>
              <a:t>Couple of important goals of </a:t>
            </a:r>
            <a:r>
              <a:rPr lang="en-US" sz="2000" b="1" i="0" u="none" strike="noStrike" cap="none" dirty="0" err="1">
                <a:solidFill>
                  <a:srgbClr val="0070C0"/>
                </a:solidFill>
                <a:latin typeface="Calibri"/>
                <a:ea typeface="Calibri"/>
                <a:cs typeface="Calibri"/>
                <a:sym typeface="Calibri"/>
              </a:rPr>
              <a:t>Modelling</a:t>
            </a:r>
            <a:endParaRPr sz="2000" b="1" i="0" u="none" strike="noStrike" cap="none">
              <a:solidFill>
                <a:srgbClr val="0070C0"/>
              </a:solidFill>
              <a:latin typeface="Calibri"/>
              <a:ea typeface="Calibri"/>
              <a:cs typeface="Calibri"/>
              <a:sym typeface="Calibri"/>
            </a:endParaRPr>
          </a:p>
          <a:p>
            <a:pPr marL="742950" marR="0" lvl="2" indent="-342900" algn="l" rtl="0">
              <a:lnSpc>
                <a:spcPct val="130000"/>
              </a:lnSpc>
              <a:spcBef>
                <a:spcPts val="0"/>
              </a:spcBef>
              <a:spcAft>
                <a:spcPts val="0"/>
              </a:spcAft>
              <a:buClr>
                <a:srgbClr val="808080"/>
              </a:buClr>
              <a:buSzPts val="1600"/>
              <a:buFont typeface="Calibri"/>
              <a:buChar char="•"/>
            </a:pPr>
            <a:r>
              <a:rPr lang="en-US" sz="2000" b="0" i="0" u="none" strike="noStrike" cap="none" dirty="0">
                <a:solidFill>
                  <a:schemeClr val="dk1"/>
                </a:solidFill>
                <a:latin typeface="Calibri"/>
                <a:ea typeface="Calibri"/>
                <a:cs typeface="Calibri"/>
                <a:sym typeface="Calibri"/>
              </a:rPr>
              <a:t>Providing an Understanding (existing) System</a:t>
            </a:r>
            <a:endParaRPr sz="1400" b="0" i="0" u="none" strike="noStrike" cap="none">
              <a:solidFill>
                <a:srgbClr val="000000"/>
              </a:solidFill>
              <a:latin typeface="Arial"/>
              <a:ea typeface="Arial"/>
              <a:cs typeface="Arial"/>
              <a:sym typeface="Arial"/>
            </a:endParaRPr>
          </a:p>
          <a:p>
            <a:pPr marL="1116000" marR="0" lvl="3" indent="-342900" algn="l" rtl="0">
              <a:lnSpc>
                <a:spcPct val="130000"/>
              </a:lnSpc>
              <a:spcBef>
                <a:spcPts val="0"/>
              </a:spcBef>
              <a:spcAft>
                <a:spcPts val="0"/>
              </a:spcAft>
              <a:buClr>
                <a:srgbClr val="808080"/>
              </a:buClr>
              <a:buSzPts val="1440"/>
              <a:buFont typeface="Calibri"/>
              <a:buChar char="•"/>
            </a:pPr>
            <a:r>
              <a:rPr lang="en-US" sz="1800" b="0" i="0" u="none" strike="noStrike" cap="none" dirty="0">
                <a:solidFill>
                  <a:schemeClr val="dk1"/>
                </a:solidFill>
                <a:latin typeface="Calibri"/>
                <a:ea typeface="Calibri"/>
                <a:cs typeface="Calibri"/>
                <a:sym typeface="Calibri"/>
              </a:rPr>
              <a:t>Analyzing and Validating the requirements in terms of visible requirements within the problem</a:t>
            </a:r>
            <a:endParaRPr sz="1400" b="0" i="0" u="none" strike="noStrike" cap="none">
              <a:solidFill>
                <a:srgbClr val="000000"/>
              </a:solidFill>
              <a:latin typeface="Arial"/>
              <a:ea typeface="Arial"/>
              <a:cs typeface="Arial"/>
              <a:sym typeface="Arial"/>
            </a:endParaRPr>
          </a:p>
          <a:p>
            <a:pPr marL="742950" marR="0" lvl="2" indent="-342900" algn="l" rtl="0">
              <a:lnSpc>
                <a:spcPct val="130000"/>
              </a:lnSpc>
              <a:spcBef>
                <a:spcPts val="0"/>
              </a:spcBef>
              <a:spcAft>
                <a:spcPts val="0"/>
              </a:spcAft>
              <a:buClr>
                <a:srgbClr val="808080"/>
              </a:buClr>
              <a:buSzPts val="1600"/>
              <a:buFont typeface="Calibri"/>
              <a:buChar char="•"/>
            </a:pPr>
            <a:r>
              <a:rPr lang="en-US" sz="2000" b="0" i="0" u="none" strike="noStrike" cap="none" dirty="0">
                <a:solidFill>
                  <a:schemeClr val="dk1"/>
                </a:solidFill>
                <a:latin typeface="Calibri"/>
                <a:ea typeface="Calibri"/>
                <a:cs typeface="Calibri"/>
                <a:sym typeface="Calibri"/>
              </a:rPr>
              <a:t>Communicating the requirements in terms of who, what and interpreting it in the same way</a:t>
            </a:r>
            <a:endParaRPr sz="1400" b="0" i="0" u="none" strike="noStrike" cap="none">
              <a:solidFill>
                <a:srgbClr val="000000"/>
              </a:solidFill>
              <a:latin typeface="Arial"/>
              <a:ea typeface="Arial"/>
              <a:cs typeface="Arial"/>
              <a:sym typeface="Arial"/>
            </a:endParaRPr>
          </a:p>
          <a:p>
            <a:pPr marL="0" marR="0" lvl="2" indent="-101600" algn="l" rtl="0">
              <a:lnSpc>
                <a:spcPct val="100000"/>
              </a:lnSpc>
              <a:spcBef>
                <a:spcPts val="0"/>
              </a:spcBef>
              <a:spcAft>
                <a:spcPts val="0"/>
              </a:spcAft>
              <a:buClr>
                <a:srgbClr val="808080"/>
              </a:buClr>
              <a:buSzPts val="1600"/>
              <a:buFont typeface="Calibri"/>
              <a:buChar char="•"/>
            </a:pPr>
            <a:r>
              <a:rPr lang="en-US" sz="2000" b="1" i="0" u="none" strike="noStrike" cap="none" dirty="0">
                <a:solidFill>
                  <a:srgbClr val="0070C0"/>
                </a:solidFill>
                <a:latin typeface="Calibri"/>
                <a:ea typeface="Calibri"/>
                <a:cs typeface="Calibri"/>
                <a:sym typeface="Calibri"/>
              </a:rPr>
              <a:t>Discussed different kinds of Models</a:t>
            </a:r>
            <a:endParaRPr sz="1400" b="0" i="0" u="none" strike="noStrike" cap="none">
              <a:solidFill>
                <a:srgbClr val="000000"/>
              </a:solidFill>
              <a:latin typeface="Arial"/>
              <a:ea typeface="Arial"/>
              <a:cs typeface="Arial"/>
              <a:sym typeface="Arial"/>
            </a:endParaRPr>
          </a:p>
          <a:p>
            <a:pPr marL="742950" marR="0" lvl="2" indent="-342900" algn="l" rtl="0">
              <a:lnSpc>
                <a:spcPct val="130000"/>
              </a:lnSpc>
              <a:spcBef>
                <a:spcPts val="600"/>
              </a:spcBef>
              <a:spcAft>
                <a:spcPts val="0"/>
              </a:spcAft>
              <a:buClr>
                <a:srgbClr val="808080"/>
              </a:buClr>
              <a:buSzPts val="1600"/>
              <a:buFont typeface="Calibri"/>
              <a:buChar char="•"/>
            </a:pPr>
            <a:r>
              <a:rPr lang="en-US" sz="2000" b="0" i="0" u="none" strike="noStrike" cap="none" dirty="0">
                <a:solidFill>
                  <a:schemeClr val="dk1"/>
                </a:solidFill>
                <a:latin typeface="Calibri"/>
                <a:ea typeface="Calibri"/>
                <a:cs typeface="Calibri"/>
                <a:sym typeface="Calibri"/>
              </a:rPr>
              <a:t>Structural Models and Behavioral models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9"/>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26" name="Google Shape;226;p9"/>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C55A11"/>
                </a:solidFill>
                <a:latin typeface="Calibri"/>
                <a:ea typeface="Calibri"/>
                <a:cs typeface="Calibri"/>
                <a:sym typeface="Calibri"/>
              </a:rPr>
              <a:t>What is </a:t>
            </a:r>
            <a:r>
              <a:rPr lang="en-US" sz="2400" b="1" i="0" u="none" strike="noStrike" cap="none" dirty="0" smtClean="0">
                <a:solidFill>
                  <a:srgbClr val="C55A11"/>
                </a:solidFill>
                <a:latin typeface="Calibri"/>
                <a:ea typeface="Calibri"/>
                <a:cs typeface="Calibri"/>
                <a:sym typeface="Calibri"/>
              </a:rPr>
              <a:t>UML?</a:t>
            </a:r>
            <a:endParaRPr sz="2000" b="1" i="0" u="none" strike="noStrike" cap="none">
              <a:solidFill>
                <a:srgbClr val="C55A11"/>
              </a:solidFill>
              <a:latin typeface="Calibri"/>
              <a:ea typeface="Calibri"/>
              <a:cs typeface="Calibri"/>
              <a:sym typeface="Calibri"/>
            </a:endParaRPr>
          </a:p>
        </p:txBody>
      </p:sp>
      <p:sp>
        <p:nvSpPr>
          <p:cNvPr id="228" name="Google Shape;228;p9"/>
          <p:cNvSpPr/>
          <p:nvPr/>
        </p:nvSpPr>
        <p:spPr>
          <a:xfrm>
            <a:off x="325733" y="1399979"/>
            <a:ext cx="8750890" cy="5155257"/>
          </a:xfrm>
          <a:prstGeom prst="rect">
            <a:avLst/>
          </a:prstGeom>
          <a:noFill/>
          <a:ln>
            <a:noFill/>
          </a:ln>
        </p:spPr>
        <p:txBody>
          <a:bodyPr spcFirstLastPara="1" wrap="square" lIns="91425" tIns="45700" rIns="91425" bIns="45700" anchor="t" anchorCtr="0">
            <a:spAutoFit/>
          </a:bodyPr>
          <a:lstStyle/>
          <a:p>
            <a:pPr marL="365125" marR="0" lvl="0" indent="-255587" algn="l" rtl="0">
              <a:lnSpc>
                <a:spcPct val="100000"/>
              </a:lnSpc>
              <a:spcBef>
                <a:spcPts val="0"/>
              </a:spcBef>
              <a:spcAft>
                <a:spcPts val="0"/>
              </a:spcAft>
              <a:buClr>
                <a:schemeClr val="accent1"/>
              </a:buClr>
              <a:buSzPts val="1632"/>
              <a:buFont typeface="Noto Sans Symbols"/>
              <a:buChar char="🞂"/>
            </a:pPr>
            <a:r>
              <a:rPr lang="en-US" sz="2400" b="1" i="0" u="none" strike="noStrike" cap="none">
                <a:solidFill>
                  <a:schemeClr val="dk1"/>
                </a:solidFill>
                <a:latin typeface="Calibri"/>
                <a:ea typeface="Calibri"/>
                <a:cs typeface="Calibri"/>
                <a:sym typeface="Calibri"/>
              </a:rPr>
              <a:t>Unified Modeling Language</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6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Language to express different types of models</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9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Language defines</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9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Syntax – Symbols and rules for using them</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9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Semantics – What these symbols represent</a:t>
            </a:r>
            <a:endParaRPr sz="1400" b="0" i="0" u="none" strike="noStrike" cap="none">
              <a:solidFill>
                <a:srgbClr val="000000"/>
              </a:solidFill>
              <a:latin typeface="Arial"/>
              <a:ea typeface="Arial"/>
              <a:cs typeface="Arial"/>
              <a:sym typeface="Arial"/>
            </a:endParaRPr>
          </a:p>
          <a:p>
            <a:pPr marL="357188" marR="0" lvl="0" indent="-268288" algn="l" rtl="0">
              <a:lnSpc>
                <a:spcPct val="100000"/>
              </a:lnSpc>
              <a:spcBef>
                <a:spcPts val="300"/>
              </a:spcBef>
              <a:spcAft>
                <a:spcPts val="0"/>
              </a:spcAft>
              <a:buClr>
                <a:srgbClr val="00B0F0"/>
              </a:buClr>
              <a:buSzPts val="1632"/>
              <a:buFont typeface="Noto Sans Symbols"/>
              <a:buChar char="🞂"/>
            </a:pPr>
            <a:r>
              <a:rPr lang="en-US" sz="2400" b="1" i="0" u="none" strike="noStrike" cap="none">
                <a:solidFill>
                  <a:schemeClr val="dk1"/>
                </a:solidFill>
                <a:latin typeface="Calibri"/>
                <a:ea typeface="Calibri"/>
                <a:cs typeface="Calibri"/>
                <a:sym typeface="Calibri"/>
              </a:rPr>
              <a:t>UML can be used to</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6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Visualize (Graphical Notation)</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9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Specify (Complete and Unambiguous)</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9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Construct (Code Generation)</a:t>
            </a:r>
            <a:endParaRPr sz="1400" b="0" i="0" u="none" strike="noStrike" cap="none">
              <a:solidFill>
                <a:srgbClr val="000000"/>
              </a:solidFill>
              <a:latin typeface="Arial"/>
              <a:ea typeface="Arial"/>
              <a:cs typeface="Arial"/>
              <a:sym typeface="Arial"/>
            </a:endParaRPr>
          </a:p>
          <a:p>
            <a:pPr marL="620713" marR="0" lvl="1" indent="-228600" algn="l" rtl="0">
              <a:lnSpc>
                <a:spcPct val="100000"/>
              </a:lnSpc>
              <a:spcBef>
                <a:spcPts val="900"/>
              </a:spcBef>
              <a:spcAft>
                <a:spcPts val="0"/>
              </a:spcAft>
              <a:buClr>
                <a:schemeClr val="accent1"/>
              </a:buClr>
              <a:buSzPts val="2400"/>
              <a:buFont typeface="Verdana"/>
              <a:buChar char="◦"/>
            </a:pPr>
            <a:r>
              <a:rPr lang="en-US" sz="2400" b="0" i="0" u="none" strike="noStrike" cap="none">
                <a:solidFill>
                  <a:schemeClr val="dk1"/>
                </a:solidFill>
                <a:latin typeface="Calibri"/>
                <a:ea typeface="Calibri"/>
                <a:cs typeface="Calibri"/>
                <a:sym typeface="Calibri"/>
              </a:rPr>
              <a:t>Document (Design, Architecture, etc.)</a:t>
            </a:r>
            <a:endParaRPr sz="1400" b="0" i="0" u="none" strike="noStrike" cap="none">
              <a:solidFill>
                <a:srgbClr val="000000"/>
              </a:solidFill>
              <a:latin typeface="Arial"/>
              <a:ea typeface="Arial"/>
              <a:cs typeface="Arial"/>
              <a:sym typeface="Arial"/>
            </a:endParaRPr>
          </a:p>
          <a:p>
            <a:pPr marL="357188" marR="0" lvl="0" indent="0" algn="l" rtl="0">
              <a:lnSpc>
                <a:spcPct val="100000"/>
              </a:lnSpc>
              <a:spcBef>
                <a:spcPts val="90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the artifacts of software-intensive systems</a:t>
            </a: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0"/>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36" name="Google Shape;236;p10"/>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Conceptual Models of UML </a:t>
            </a:r>
            <a:endParaRPr sz="2000" b="1" i="0" u="none" strike="noStrike" cap="none">
              <a:solidFill>
                <a:srgbClr val="C55A11"/>
              </a:solidFill>
              <a:latin typeface="Calibri"/>
              <a:ea typeface="Calibri"/>
              <a:cs typeface="Calibri"/>
              <a:sym typeface="Calibri"/>
            </a:endParaRPr>
          </a:p>
        </p:txBody>
      </p:sp>
      <p:sp>
        <p:nvSpPr>
          <p:cNvPr id="238" name="Google Shape;2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10</a:t>
            </a:fld>
            <a:endParaRPr/>
          </a:p>
        </p:txBody>
      </p:sp>
      <p:sp>
        <p:nvSpPr>
          <p:cNvPr id="239" name="Google Shape;239;p10"/>
          <p:cNvSpPr/>
          <p:nvPr/>
        </p:nvSpPr>
        <p:spPr>
          <a:xfrm>
            <a:off x="4974127" y="1374010"/>
            <a:ext cx="16002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UML</a:t>
            </a:r>
            <a:endParaRPr sz="1400" b="0" i="0" u="none" strike="noStrike" cap="none">
              <a:solidFill>
                <a:srgbClr val="000000"/>
              </a:solidFill>
              <a:latin typeface="Arial"/>
              <a:ea typeface="Arial"/>
              <a:cs typeface="Arial"/>
              <a:sym typeface="Arial"/>
            </a:endParaRPr>
          </a:p>
        </p:txBody>
      </p:sp>
      <p:sp>
        <p:nvSpPr>
          <p:cNvPr id="240" name="Google Shape;240;p10"/>
          <p:cNvSpPr/>
          <p:nvPr/>
        </p:nvSpPr>
        <p:spPr>
          <a:xfrm>
            <a:off x="6650527" y="2136010"/>
            <a:ext cx="1981200" cy="6858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241" name="Google Shape;241;p10"/>
          <p:cNvSpPr/>
          <p:nvPr/>
        </p:nvSpPr>
        <p:spPr>
          <a:xfrm>
            <a:off x="8784127" y="2059810"/>
            <a:ext cx="1524000" cy="838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Common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mechanisms</a:t>
            </a:r>
            <a:endParaRPr sz="1400" b="0" i="0" u="none" strike="noStrike" cap="none">
              <a:solidFill>
                <a:srgbClr val="000000"/>
              </a:solidFill>
              <a:latin typeface="Arial"/>
              <a:ea typeface="Arial"/>
              <a:cs typeface="Arial"/>
              <a:sym typeface="Arial"/>
            </a:endParaRPr>
          </a:p>
        </p:txBody>
      </p:sp>
      <p:sp>
        <p:nvSpPr>
          <p:cNvPr id="242" name="Google Shape;242;p10"/>
          <p:cNvSpPr/>
          <p:nvPr/>
        </p:nvSpPr>
        <p:spPr>
          <a:xfrm>
            <a:off x="4171431" y="2044960"/>
            <a:ext cx="1752600" cy="762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Building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blocks</a:t>
            </a:r>
            <a:endParaRPr sz="1400" b="0" i="0" u="none" strike="noStrike" cap="none">
              <a:solidFill>
                <a:srgbClr val="000000"/>
              </a:solidFill>
              <a:latin typeface="Arial"/>
              <a:ea typeface="Arial"/>
              <a:cs typeface="Arial"/>
              <a:sym typeface="Arial"/>
            </a:endParaRPr>
          </a:p>
        </p:txBody>
      </p:sp>
      <p:sp>
        <p:nvSpPr>
          <p:cNvPr id="243" name="Google Shape;243;p10"/>
          <p:cNvSpPr/>
          <p:nvPr/>
        </p:nvSpPr>
        <p:spPr>
          <a:xfrm>
            <a:off x="4057131" y="3204516"/>
            <a:ext cx="12192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Things</a:t>
            </a:r>
            <a:endParaRPr sz="1400" b="0" i="0" u="none" strike="noStrike" cap="none">
              <a:solidFill>
                <a:srgbClr val="000000"/>
              </a:solidFill>
              <a:latin typeface="Arial"/>
              <a:ea typeface="Arial"/>
              <a:cs typeface="Arial"/>
              <a:sym typeface="Arial"/>
            </a:endParaRPr>
          </a:p>
        </p:txBody>
      </p:sp>
      <p:sp>
        <p:nvSpPr>
          <p:cNvPr id="244" name="Google Shape;244;p10"/>
          <p:cNvSpPr/>
          <p:nvPr/>
        </p:nvSpPr>
        <p:spPr>
          <a:xfrm>
            <a:off x="6876531" y="3204516"/>
            <a:ext cx="12954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Relations</a:t>
            </a:r>
            <a:endParaRPr sz="1400" b="0" i="0" u="none" strike="noStrike" cap="none">
              <a:solidFill>
                <a:srgbClr val="000000"/>
              </a:solidFill>
              <a:latin typeface="Arial"/>
              <a:ea typeface="Arial"/>
              <a:cs typeface="Arial"/>
              <a:sym typeface="Arial"/>
            </a:endParaRPr>
          </a:p>
        </p:txBody>
      </p:sp>
      <p:sp>
        <p:nvSpPr>
          <p:cNvPr id="245" name="Google Shape;245;p10"/>
          <p:cNvSpPr/>
          <p:nvPr/>
        </p:nvSpPr>
        <p:spPr>
          <a:xfrm>
            <a:off x="8933931" y="3128316"/>
            <a:ext cx="12954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Diagrams</a:t>
            </a:r>
            <a:endParaRPr sz="1400" b="0" i="0" u="none" strike="noStrike" cap="none">
              <a:solidFill>
                <a:srgbClr val="000000"/>
              </a:solidFill>
              <a:latin typeface="Arial"/>
              <a:ea typeface="Arial"/>
              <a:cs typeface="Arial"/>
              <a:sym typeface="Arial"/>
            </a:endParaRPr>
          </a:p>
        </p:txBody>
      </p:sp>
      <p:sp>
        <p:nvSpPr>
          <p:cNvPr id="246" name="Google Shape;246;p10"/>
          <p:cNvSpPr/>
          <p:nvPr/>
        </p:nvSpPr>
        <p:spPr>
          <a:xfrm>
            <a:off x="1618731" y="4118916"/>
            <a:ext cx="12954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Structural</a:t>
            </a:r>
            <a:endParaRPr sz="1400" b="0" i="0" u="none" strike="noStrike" cap="none">
              <a:solidFill>
                <a:srgbClr val="000000"/>
              </a:solidFill>
              <a:latin typeface="Arial"/>
              <a:ea typeface="Arial"/>
              <a:cs typeface="Arial"/>
              <a:sym typeface="Arial"/>
            </a:endParaRPr>
          </a:p>
        </p:txBody>
      </p:sp>
      <p:sp>
        <p:nvSpPr>
          <p:cNvPr id="247" name="Google Shape;247;p10"/>
          <p:cNvSpPr/>
          <p:nvPr/>
        </p:nvSpPr>
        <p:spPr>
          <a:xfrm>
            <a:off x="3066531" y="4118916"/>
            <a:ext cx="14478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Behavioral</a:t>
            </a:r>
            <a:endParaRPr sz="1400" b="0" i="0" u="none" strike="noStrike" cap="none">
              <a:solidFill>
                <a:srgbClr val="000000"/>
              </a:solidFill>
              <a:latin typeface="Arial"/>
              <a:ea typeface="Arial"/>
              <a:cs typeface="Arial"/>
              <a:sym typeface="Arial"/>
            </a:endParaRPr>
          </a:p>
        </p:txBody>
      </p:sp>
      <p:sp>
        <p:nvSpPr>
          <p:cNvPr id="248" name="Google Shape;248;p10"/>
          <p:cNvSpPr/>
          <p:nvPr/>
        </p:nvSpPr>
        <p:spPr>
          <a:xfrm>
            <a:off x="4666731" y="4118916"/>
            <a:ext cx="12192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Grouping</a:t>
            </a:r>
            <a:endParaRPr sz="1400" b="0" i="0" u="none" strike="noStrike" cap="none">
              <a:solidFill>
                <a:srgbClr val="000000"/>
              </a:solidFill>
              <a:latin typeface="Arial"/>
              <a:ea typeface="Arial"/>
              <a:cs typeface="Arial"/>
              <a:sym typeface="Arial"/>
            </a:endParaRPr>
          </a:p>
        </p:txBody>
      </p:sp>
      <p:sp>
        <p:nvSpPr>
          <p:cNvPr id="249" name="Google Shape;249;p10"/>
          <p:cNvSpPr/>
          <p:nvPr/>
        </p:nvSpPr>
        <p:spPr>
          <a:xfrm>
            <a:off x="6038331" y="4118916"/>
            <a:ext cx="11430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Annotate</a:t>
            </a:r>
            <a:endParaRPr sz="1800" b="0" i="0" u="none" strike="noStrike" cap="none">
              <a:solidFill>
                <a:srgbClr val="000000"/>
              </a:solidFill>
              <a:latin typeface="Arial"/>
              <a:ea typeface="Arial"/>
              <a:cs typeface="Arial"/>
              <a:sym typeface="Arial"/>
            </a:endParaRPr>
          </a:p>
        </p:txBody>
      </p:sp>
      <p:cxnSp>
        <p:nvCxnSpPr>
          <p:cNvPr id="250" name="Google Shape;250;p10"/>
          <p:cNvCxnSpPr/>
          <p:nvPr/>
        </p:nvCxnSpPr>
        <p:spPr>
          <a:xfrm>
            <a:off x="16187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251" name="Google Shape;251;p10"/>
          <p:cNvSpPr txBox="1"/>
          <p:nvPr/>
        </p:nvSpPr>
        <p:spPr>
          <a:xfrm>
            <a:off x="1618731" y="4476105"/>
            <a:ext cx="141605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Interface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Active 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Node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cxnSp>
        <p:nvCxnSpPr>
          <p:cNvPr id="252" name="Google Shape;252;p10"/>
          <p:cNvCxnSpPr/>
          <p:nvPr/>
        </p:nvCxnSpPr>
        <p:spPr>
          <a:xfrm>
            <a:off x="3158606" y="4499916"/>
            <a:ext cx="0" cy="2209800"/>
          </a:xfrm>
          <a:prstGeom prst="straightConnector1">
            <a:avLst/>
          </a:prstGeom>
          <a:noFill/>
          <a:ln w="9525" cap="flat" cmpd="sng">
            <a:solidFill>
              <a:schemeClr val="dk1"/>
            </a:solidFill>
            <a:prstDash val="solid"/>
            <a:round/>
            <a:headEnd type="none" w="sm" len="sm"/>
            <a:tailEnd type="none" w="sm" len="sm"/>
          </a:ln>
        </p:spPr>
      </p:cxnSp>
      <p:sp>
        <p:nvSpPr>
          <p:cNvPr id="253" name="Google Shape;253;p10"/>
          <p:cNvSpPr txBox="1"/>
          <p:nvPr/>
        </p:nvSpPr>
        <p:spPr>
          <a:xfrm>
            <a:off x="3158029" y="4499916"/>
            <a:ext cx="1671996"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Interaction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State machine</a:t>
            </a:r>
            <a:endParaRPr sz="1400" b="0" i="0" u="none" strike="noStrike" cap="none">
              <a:solidFill>
                <a:srgbClr val="000000"/>
              </a:solidFill>
              <a:latin typeface="Arial"/>
              <a:ea typeface="Arial"/>
              <a:cs typeface="Arial"/>
              <a:sym typeface="Arial"/>
            </a:endParaRPr>
          </a:p>
        </p:txBody>
      </p:sp>
      <p:cxnSp>
        <p:nvCxnSpPr>
          <p:cNvPr id="254" name="Google Shape;254;p10"/>
          <p:cNvCxnSpPr/>
          <p:nvPr/>
        </p:nvCxnSpPr>
        <p:spPr>
          <a:xfrm>
            <a:off x="48191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255" name="Google Shape;255;p10"/>
          <p:cNvSpPr txBox="1"/>
          <p:nvPr/>
        </p:nvSpPr>
        <p:spPr>
          <a:xfrm>
            <a:off x="4803256" y="4666605"/>
            <a:ext cx="1030288"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Package</a:t>
            </a:r>
            <a:endParaRPr sz="1400" b="0" i="0" u="none" strike="noStrike" cap="none">
              <a:solidFill>
                <a:srgbClr val="000000"/>
              </a:solidFill>
              <a:latin typeface="Arial"/>
              <a:ea typeface="Arial"/>
              <a:cs typeface="Arial"/>
              <a:sym typeface="Arial"/>
            </a:endParaRPr>
          </a:p>
        </p:txBody>
      </p:sp>
      <p:cxnSp>
        <p:nvCxnSpPr>
          <p:cNvPr id="256" name="Google Shape;256;p10"/>
          <p:cNvCxnSpPr/>
          <p:nvPr/>
        </p:nvCxnSpPr>
        <p:spPr>
          <a:xfrm>
            <a:off x="62669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257" name="Google Shape;257;p10"/>
          <p:cNvSpPr txBox="1"/>
          <p:nvPr/>
        </p:nvSpPr>
        <p:spPr>
          <a:xfrm>
            <a:off x="6251057" y="4666604"/>
            <a:ext cx="69647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Note</a:t>
            </a:r>
            <a:endParaRPr sz="1400" b="0" i="0" u="none" strike="noStrike" cap="none">
              <a:solidFill>
                <a:srgbClr val="000000"/>
              </a:solidFill>
              <a:latin typeface="Arial"/>
              <a:ea typeface="Arial"/>
              <a:cs typeface="Arial"/>
              <a:sym typeface="Arial"/>
            </a:endParaRPr>
          </a:p>
        </p:txBody>
      </p:sp>
      <p:cxnSp>
        <p:nvCxnSpPr>
          <p:cNvPr id="258" name="Google Shape;258;p10"/>
          <p:cNvCxnSpPr/>
          <p:nvPr/>
        </p:nvCxnSpPr>
        <p:spPr>
          <a:xfrm>
            <a:off x="7333731" y="3661716"/>
            <a:ext cx="0" cy="3048000"/>
          </a:xfrm>
          <a:prstGeom prst="straightConnector1">
            <a:avLst/>
          </a:prstGeom>
          <a:noFill/>
          <a:ln w="9525" cap="flat" cmpd="sng">
            <a:solidFill>
              <a:schemeClr val="dk1"/>
            </a:solidFill>
            <a:prstDash val="solid"/>
            <a:round/>
            <a:headEnd type="none" w="sm" len="sm"/>
            <a:tailEnd type="none" w="sm" len="sm"/>
          </a:ln>
        </p:spPr>
      </p:cxnSp>
      <p:sp>
        <p:nvSpPr>
          <p:cNvPr id="259" name="Google Shape;259;p10"/>
          <p:cNvSpPr txBox="1"/>
          <p:nvPr/>
        </p:nvSpPr>
        <p:spPr>
          <a:xfrm>
            <a:off x="7317856" y="3980805"/>
            <a:ext cx="169726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Dependency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Association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Generalization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Realization</a:t>
            </a:r>
            <a:endParaRPr sz="1400" b="0" i="0" u="none" strike="noStrike" cap="none">
              <a:solidFill>
                <a:srgbClr val="000000"/>
              </a:solidFill>
              <a:latin typeface="Arial"/>
              <a:ea typeface="Arial"/>
              <a:cs typeface="Arial"/>
              <a:sym typeface="Arial"/>
            </a:endParaRPr>
          </a:p>
        </p:txBody>
      </p:sp>
      <p:cxnSp>
        <p:nvCxnSpPr>
          <p:cNvPr id="260" name="Google Shape;260;p10"/>
          <p:cNvCxnSpPr/>
          <p:nvPr/>
        </p:nvCxnSpPr>
        <p:spPr>
          <a:xfrm>
            <a:off x="9010131" y="3585516"/>
            <a:ext cx="0" cy="3124200"/>
          </a:xfrm>
          <a:prstGeom prst="straightConnector1">
            <a:avLst/>
          </a:prstGeom>
          <a:noFill/>
          <a:ln w="9525" cap="flat" cmpd="sng">
            <a:solidFill>
              <a:schemeClr val="dk1"/>
            </a:solidFill>
            <a:prstDash val="solid"/>
            <a:round/>
            <a:headEnd type="none" w="sm" len="sm"/>
            <a:tailEnd type="none" w="sm" len="sm"/>
          </a:ln>
        </p:spPr>
      </p:cxnSp>
      <p:sp>
        <p:nvSpPr>
          <p:cNvPr id="261" name="Google Shape;261;p10"/>
          <p:cNvSpPr txBox="1"/>
          <p:nvPr/>
        </p:nvSpPr>
        <p:spPr>
          <a:xfrm>
            <a:off x="8994257" y="3676005"/>
            <a:ext cx="1742237" cy="28352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Object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Use case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Sequence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Collaboration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State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Activity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Deployment</a:t>
            </a:r>
            <a:endParaRPr sz="1400" b="0" i="0" u="none" strike="noStrike" cap="none">
              <a:solidFill>
                <a:srgbClr val="000000"/>
              </a:solidFill>
              <a:latin typeface="Arial"/>
              <a:ea typeface="Arial"/>
              <a:cs typeface="Arial"/>
              <a:sym typeface="Arial"/>
            </a:endParaRPr>
          </a:p>
        </p:txBody>
      </p:sp>
      <p:cxnSp>
        <p:nvCxnSpPr>
          <p:cNvPr id="262" name="Google Shape;262;p10"/>
          <p:cNvCxnSpPr/>
          <p:nvPr/>
        </p:nvCxnSpPr>
        <p:spPr>
          <a:xfrm flipH="1">
            <a:off x="4974127" y="1831210"/>
            <a:ext cx="685800" cy="228600"/>
          </a:xfrm>
          <a:prstGeom prst="straightConnector1">
            <a:avLst/>
          </a:prstGeom>
          <a:noFill/>
          <a:ln w="28575" cap="flat" cmpd="sng">
            <a:solidFill>
              <a:schemeClr val="dk1"/>
            </a:solidFill>
            <a:prstDash val="solid"/>
            <a:round/>
            <a:headEnd type="none" w="sm" len="sm"/>
            <a:tailEnd type="none" w="sm" len="sm"/>
          </a:ln>
        </p:spPr>
      </p:cxnSp>
      <p:cxnSp>
        <p:nvCxnSpPr>
          <p:cNvPr id="263" name="Google Shape;263;p10"/>
          <p:cNvCxnSpPr/>
          <p:nvPr/>
        </p:nvCxnSpPr>
        <p:spPr>
          <a:xfrm>
            <a:off x="5659927" y="1831210"/>
            <a:ext cx="1219200" cy="304800"/>
          </a:xfrm>
          <a:prstGeom prst="straightConnector1">
            <a:avLst/>
          </a:prstGeom>
          <a:noFill/>
          <a:ln w="28575" cap="flat" cmpd="sng">
            <a:solidFill>
              <a:schemeClr val="dk1"/>
            </a:solidFill>
            <a:prstDash val="solid"/>
            <a:round/>
            <a:headEnd type="none" w="sm" len="sm"/>
            <a:tailEnd type="none" w="sm" len="sm"/>
          </a:ln>
        </p:spPr>
      </p:cxnSp>
      <p:cxnSp>
        <p:nvCxnSpPr>
          <p:cNvPr id="264" name="Google Shape;264;p10"/>
          <p:cNvCxnSpPr/>
          <p:nvPr/>
        </p:nvCxnSpPr>
        <p:spPr>
          <a:xfrm>
            <a:off x="6574327" y="1831210"/>
            <a:ext cx="2209800" cy="228600"/>
          </a:xfrm>
          <a:prstGeom prst="straightConnector1">
            <a:avLst/>
          </a:prstGeom>
          <a:noFill/>
          <a:ln w="28575" cap="flat" cmpd="sng">
            <a:solidFill>
              <a:schemeClr val="dk1"/>
            </a:solidFill>
            <a:prstDash val="solid"/>
            <a:round/>
            <a:headEnd type="none" w="sm" len="sm"/>
            <a:tailEnd type="none" w="sm" len="sm"/>
          </a:ln>
        </p:spPr>
      </p:cxnSp>
      <p:cxnSp>
        <p:nvCxnSpPr>
          <p:cNvPr id="265" name="Google Shape;265;p10"/>
          <p:cNvCxnSpPr/>
          <p:nvPr/>
        </p:nvCxnSpPr>
        <p:spPr>
          <a:xfrm flipH="1">
            <a:off x="4770929" y="2821810"/>
            <a:ext cx="660398" cy="369208"/>
          </a:xfrm>
          <a:prstGeom prst="straightConnector1">
            <a:avLst/>
          </a:prstGeom>
          <a:noFill/>
          <a:ln w="28575" cap="flat" cmpd="sng">
            <a:solidFill>
              <a:schemeClr val="dk1"/>
            </a:solidFill>
            <a:prstDash val="solid"/>
            <a:round/>
            <a:headEnd type="none" w="sm" len="sm"/>
            <a:tailEnd type="none" w="sm" len="sm"/>
          </a:ln>
        </p:spPr>
      </p:cxnSp>
      <p:cxnSp>
        <p:nvCxnSpPr>
          <p:cNvPr id="266" name="Google Shape;266;p10"/>
          <p:cNvCxnSpPr/>
          <p:nvPr/>
        </p:nvCxnSpPr>
        <p:spPr>
          <a:xfrm>
            <a:off x="5583727" y="2821810"/>
            <a:ext cx="1676400" cy="388876"/>
          </a:xfrm>
          <a:prstGeom prst="straightConnector1">
            <a:avLst/>
          </a:prstGeom>
          <a:noFill/>
          <a:ln w="28575" cap="flat" cmpd="sng">
            <a:solidFill>
              <a:schemeClr val="dk1"/>
            </a:solidFill>
            <a:prstDash val="solid"/>
            <a:round/>
            <a:headEnd type="none" w="sm" len="sm"/>
            <a:tailEnd type="none" w="sm" len="sm"/>
          </a:ln>
        </p:spPr>
      </p:cxnSp>
      <p:cxnSp>
        <p:nvCxnSpPr>
          <p:cNvPr id="267" name="Google Shape;267;p10"/>
          <p:cNvCxnSpPr/>
          <p:nvPr/>
        </p:nvCxnSpPr>
        <p:spPr>
          <a:xfrm>
            <a:off x="5888527" y="2821810"/>
            <a:ext cx="3048000" cy="381000"/>
          </a:xfrm>
          <a:prstGeom prst="straightConnector1">
            <a:avLst/>
          </a:prstGeom>
          <a:noFill/>
          <a:ln w="28575" cap="flat" cmpd="sng">
            <a:solidFill>
              <a:schemeClr val="dk1"/>
            </a:solidFill>
            <a:prstDash val="solid"/>
            <a:round/>
            <a:headEnd type="none" w="sm" len="sm"/>
            <a:tailEnd type="none" w="sm" len="sm"/>
          </a:ln>
        </p:spPr>
      </p:cxnSp>
      <p:cxnSp>
        <p:nvCxnSpPr>
          <p:cNvPr id="268" name="Google Shape;268;p10"/>
          <p:cNvCxnSpPr/>
          <p:nvPr/>
        </p:nvCxnSpPr>
        <p:spPr>
          <a:xfrm flipH="1">
            <a:off x="2228331" y="3661716"/>
            <a:ext cx="1905000" cy="457200"/>
          </a:xfrm>
          <a:prstGeom prst="straightConnector1">
            <a:avLst/>
          </a:prstGeom>
          <a:noFill/>
          <a:ln w="28575" cap="flat" cmpd="sng">
            <a:solidFill>
              <a:schemeClr val="dk1"/>
            </a:solidFill>
            <a:prstDash val="solid"/>
            <a:round/>
            <a:headEnd type="none" w="sm" len="sm"/>
            <a:tailEnd type="none" w="sm" len="sm"/>
          </a:ln>
        </p:spPr>
      </p:cxnSp>
      <p:cxnSp>
        <p:nvCxnSpPr>
          <p:cNvPr id="269" name="Google Shape;269;p10"/>
          <p:cNvCxnSpPr/>
          <p:nvPr/>
        </p:nvCxnSpPr>
        <p:spPr>
          <a:xfrm>
            <a:off x="5200131" y="3661716"/>
            <a:ext cx="1371600" cy="457200"/>
          </a:xfrm>
          <a:prstGeom prst="straightConnector1">
            <a:avLst/>
          </a:prstGeom>
          <a:noFill/>
          <a:ln w="28575" cap="flat" cmpd="sng">
            <a:solidFill>
              <a:schemeClr val="dk1"/>
            </a:solidFill>
            <a:prstDash val="solid"/>
            <a:round/>
            <a:headEnd type="none" w="sm" len="sm"/>
            <a:tailEnd type="none" w="sm" len="sm"/>
          </a:ln>
        </p:spPr>
      </p:cxnSp>
      <p:cxnSp>
        <p:nvCxnSpPr>
          <p:cNvPr id="270" name="Google Shape;270;p10"/>
          <p:cNvCxnSpPr/>
          <p:nvPr/>
        </p:nvCxnSpPr>
        <p:spPr>
          <a:xfrm flipH="1">
            <a:off x="3904731" y="3661716"/>
            <a:ext cx="533400" cy="457200"/>
          </a:xfrm>
          <a:prstGeom prst="straightConnector1">
            <a:avLst/>
          </a:prstGeom>
          <a:noFill/>
          <a:ln w="28575" cap="flat" cmpd="sng">
            <a:solidFill>
              <a:schemeClr val="dk1"/>
            </a:solidFill>
            <a:prstDash val="solid"/>
            <a:round/>
            <a:headEnd type="none" w="sm" len="sm"/>
            <a:tailEnd type="none" w="sm" len="sm"/>
          </a:ln>
        </p:spPr>
      </p:cxnSp>
      <p:cxnSp>
        <p:nvCxnSpPr>
          <p:cNvPr id="271" name="Google Shape;271;p10"/>
          <p:cNvCxnSpPr/>
          <p:nvPr/>
        </p:nvCxnSpPr>
        <p:spPr>
          <a:xfrm>
            <a:off x="4895331" y="3661716"/>
            <a:ext cx="304800" cy="457200"/>
          </a:xfrm>
          <a:prstGeom prst="straightConnector1">
            <a:avLst/>
          </a:prstGeom>
          <a:noFill/>
          <a:ln w="28575" cap="flat" cmpd="sng">
            <a:solidFill>
              <a:schemeClr val="dk1"/>
            </a:solidFill>
            <a:prstDash val="solid"/>
            <a:round/>
            <a:headEnd type="none" w="sm" len="sm"/>
            <a:tailEnd type="none" w="sm" len="sm"/>
          </a:ln>
        </p:spPr>
      </p:cxnSp>
      <p:sp>
        <p:nvSpPr>
          <p:cNvPr id="272" name="Google Shape;272;p10"/>
          <p:cNvSpPr txBox="1"/>
          <p:nvPr/>
        </p:nvSpPr>
        <p:spPr>
          <a:xfrm>
            <a:off x="7260127" y="2109024"/>
            <a:ext cx="762000"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Rules</a:t>
            </a:r>
            <a:endParaRPr sz="1800" b="0" i="0" u="none" strike="noStrike" cap="none">
              <a:solidFill>
                <a:schemeClr val="dk1"/>
              </a:solidFill>
              <a:latin typeface="Calibri"/>
              <a:ea typeface="Calibri"/>
              <a:cs typeface="Calibri"/>
              <a:sym typeface="Calibri"/>
            </a:endParaRPr>
          </a:p>
        </p:txBody>
      </p:sp>
      <p:sp>
        <p:nvSpPr>
          <p:cNvPr id="273" name="Google Shape;273;p10"/>
          <p:cNvSpPr txBox="1"/>
          <p:nvPr/>
        </p:nvSpPr>
        <p:spPr>
          <a:xfrm>
            <a:off x="6697050" y="2391032"/>
            <a:ext cx="22860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name, scope, visibility</a:t>
            </a:r>
            <a:endParaRPr sz="1800" b="0" i="1" u="none" strike="noStrike" cap="none">
              <a:solidFill>
                <a:schemeClr val="dk1"/>
              </a:solidFill>
              <a:latin typeface="Calibri"/>
              <a:ea typeface="Calibri"/>
              <a:cs typeface="Calibri"/>
              <a:sym typeface="Calibri"/>
            </a:endParaRPr>
          </a:p>
        </p:txBody>
      </p:sp>
      <p:sp>
        <p:nvSpPr>
          <p:cNvPr id="274" name="Google Shape;274;p10"/>
          <p:cNvSpPr txBox="1"/>
          <p:nvPr/>
        </p:nvSpPr>
        <p:spPr>
          <a:xfrm>
            <a:off x="3134275" y="5245301"/>
            <a:ext cx="1577975"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Use case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Collaboration</a:t>
            </a:r>
            <a:endParaRPr sz="18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1"/>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83" name="Google Shape;283;p11"/>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Conceptual Models of UML</a:t>
            </a:r>
            <a:endParaRPr sz="2000" b="1" i="0" u="none" strike="noStrike" cap="none">
              <a:solidFill>
                <a:srgbClr val="C55A11"/>
              </a:solidFill>
              <a:latin typeface="Calibri"/>
              <a:ea typeface="Calibri"/>
              <a:cs typeface="Calibri"/>
              <a:sym typeface="Calibri"/>
            </a:endParaRPr>
          </a:p>
        </p:txBody>
      </p:sp>
      <p:sp>
        <p:nvSpPr>
          <p:cNvPr id="285" name="Google Shape;28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11</a:t>
            </a:fld>
            <a:endParaRPr/>
          </a:p>
        </p:txBody>
      </p:sp>
      <p:sp>
        <p:nvSpPr>
          <p:cNvPr id="286" name="Google Shape;286;p11"/>
          <p:cNvSpPr/>
          <p:nvPr/>
        </p:nvSpPr>
        <p:spPr>
          <a:xfrm>
            <a:off x="4990095" y="1344290"/>
            <a:ext cx="16002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UML</a:t>
            </a:r>
            <a:endParaRPr sz="1400" b="0" i="0" u="none" strike="noStrike" cap="none">
              <a:solidFill>
                <a:srgbClr val="000000"/>
              </a:solidFill>
              <a:latin typeface="Arial"/>
              <a:ea typeface="Arial"/>
              <a:cs typeface="Arial"/>
              <a:sym typeface="Arial"/>
            </a:endParaRPr>
          </a:p>
        </p:txBody>
      </p:sp>
      <p:sp>
        <p:nvSpPr>
          <p:cNvPr id="287" name="Google Shape;287;p11"/>
          <p:cNvSpPr/>
          <p:nvPr/>
        </p:nvSpPr>
        <p:spPr>
          <a:xfrm>
            <a:off x="6413801" y="2116217"/>
            <a:ext cx="2319796" cy="6858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288" name="Google Shape;288;p11"/>
          <p:cNvSpPr/>
          <p:nvPr/>
        </p:nvSpPr>
        <p:spPr>
          <a:xfrm>
            <a:off x="8800095" y="2030090"/>
            <a:ext cx="1603538" cy="838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Common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mechanisms</a:t>
            </a:r>
            <a:endParaRPr sz="1400" b="0" i="0" u="none" strike="noStrike" cap="none">
              <a:solidFill>
                <a:srgbClr val="000000"/>
              </a:solidFill>
              <a:latin typeface="Arial"/>
              <a:ea typeface="Arial"/>
              <a:cs typeface="Arial"/>
              <a:sym typeface="Arial"/>
            </a:endParaRPr>
          </a:p>
        </p:txBody>
      </p:sp>
      <p:sp>
        <p:nvSpPr>
          <p:cNvPr id="289" name="Google Shape;289;p11"/>
          <p:cNvSpPr/>
          <p:nvPr/>
        </p:nvSpPr>
        <p:spPr>
          <a:xfrm>
            <a:off x="3290504" y="2016838"/>
            <a:ext cx="1752600" cy="762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Building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blocks</a:t>
            </a:r>
            <a:endParaRPr sz="1400" b="0" i="0" u="none" strike="noStrike" cap="none">
              <a:solidFill>
                <a:srgbClr val="000000"/>
              </a:solidFill>
              <a:latin typeface="Arial"/>
              <a:ea typeface="Arial"/>
              <a:cs typeface="Arial"/>
              <a:sym typeface="Arial"/>
            </a:endParaRPr>
          </a:p>
        </p:txBody>
      </p:sp>
      <p:sp>
        <p:nvSpPr>
          <p:cNvPr id="290" name="Google Shape;290;p11"/>
          <p:cNvSpPr/>
          <p:nvPr/>
        </p:nvSpPr>
        <p:spPr>
          <a:xfrm>
            <a:off x="4075695" y="3249290"/>
            <a:ext cx="12192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Things</a:t>
            </a:r>
            <a:endParaRPr sz="1400" b="0" i="0" u="none" strike="noStrike" cap="none">
              <a:solidFill>
                <a:srgbClr val="000000"/>
              </a:solidFill>
              <a:latin typeface="Arial"/>
              <a:ea typeface="Arial"/>
              <a:cs typeface="Arial"/>
              <a:sym typeface="Arial"/>
            </a:endParaRPr>
          </a:p>
        </p:txBody>
      </p:sp>
      <p:sp>
        <p:nvSpPr>
          <p:cNvPr id="291" name="Google Shape;291;p11"/>
          <p:cNvSpPr/>
          <p:nvPr/>
        </p:nvSpPr>
        <p:spPr>
          <a:xfrm>
            <a:off x="6881843" y="3315551"/>
            <a:ext cx="12954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Relations</a:t>
            </a:r>
            <a:endParaRPr sz="1400" b="0" i="0" u="none" strike="noStrike" cap="none">
              <a:solidFill>
                <a:srgbClr val="000000"/>
              </a:solidFill>
              <a:latin typeface="Arial"/>
              <a:ea typeface="Arial"/>
              <a:cs typeface="Arial"/>
              <a:sym typeface="Arial"/>
            </a:endParaRPr>
          </a:p>
        </p:txBody>
      </p:sp>
      <p:sp>
        <p:nvSpPr>
          <p:cNvPr id="292" name="Google Shape;292;p11"/>
          <p:cNvSpPr/>
          <p:nvPr/>
        </p:nvSpPr>
        <p:spPr>
          <a:xfrm>
            <a:off x="8952495" y="3173090"/>
            <a:ext cx="12954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Diagrams</a:t>
            </a:r>
            <a:endParaRPr sz="1400" b="0" i="0" u="none" strike="noStrike" cap="none">
              <a:solidFill>
                <a:srgbClr val="000000"/>
              </a:solidFill>
              <a:latin typeface="Arial"/>
              <a:ea typeface="Arial"/>
              <a:cs typeface="Arial"/>
              <a:sym typeface="Arial"/>
            </a:endParaRPr>
          </a:p>
        </p:txBody>
      </p:sp>
      <p:sp>
        <p:nvSpPr>
          <p:cNvPr id="293" name="Google Shape;293;p11"/>
          <p:cNvSpPr/>
          <p:nvPr/>
        </p:nvSpPr>
        <p:spPr>
          <a:xfrm>
            <a:off x="1618731" y="4118916"/>
            <a:ext cx="12954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Structural</a:t>
            </a:r>
            <a:endParaRPr sz="2000" b="0" i="0" u="none" strike="noStrike" cap="none">
              <a:solidFill>
                <a:srgbClr val="000000"/>
              </a:solidFill>
              <a:latin typeface="Arial"/>
              <a:ea typeface="Arial"/>
              <a:cs typeface="Arial"/>
              <a:sym typeface="Arial"/>
            </a:endParaRPr>
          </a:p>
        </p:txBody>
      </p:sp>
      <p:sp>
        <p:nvSpPr>
          <p:cNvPr id="294" name="Google Shape;294;p11"/>
          <p:cNvSpPr/>
          <p:nvPr/>
        </p:nvSpPr>
        <p:spPr>
          <a:xfrm>
            <a:off x="3066531" y="4118916"/>
            <a:ext cx="14478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Behavioral</a:t>
            </a:r>
            <a:endParaRPr sz="2000" b="0" i="0" u="none" strike="noStrike" cap="none">
              <a:solidFill>
                <a:srgbClr val="000000"/>
              </a:solidFill>
              <a:latin typeface="Arial"/>
              <a:ea typeface="Arial"/>
              <a:cs typeface="Arial"/>
              <a:sym typeface="Arial"/>
            </a:endParaRPr>
          </a:p>
        </p:txBody>
      </p:sp>
      <p:sp>
        <p:nvSpPr>
          <p:cNvPr id="295" name="Google Shape;295;p11"/>
          <p:cNvSpPr/>
          <p:nvPr/>
        </p:nvSpPr>
        <p:spPr>
          <a:xfrm>
            <a:off x="4666731" y="4118916"/>
            <a:ext cx="12192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Grouping</a:t>
            </a:r>
            <a:endParaRPr sz="2000" b="0" i="0" u="none" strike="noStrike" cap="none">
              <a:solidFill>
                <a:srgbClr val="000000"/>
              </a:solidFill>
              <a:latin typeface="Arial"/>
              <a:ea typeface="Arial"/>
              <a:cs typeface="Arial"/>
              <a:sym typeface="Arial"/>
            </a:endParaRPr>
          </a:p>
        </p:txBody>
      </p:sp>
      <p:sp>
        <p:nvSpPr>
          <p:cNvPr id="296" name="Google Shape;296;p11"/>
          <p:cNvSpPr/>
          <p:nvPr/>
        </p:nvSpPr>
        <p:spPr>
          <a:xfrm>
            <a:off x="6038331" y="4118916"/>
            <a:ext cx="11430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Annotate</a:t>
            </a:r>
            <a:endParaRPr sz="1800" b="0" i="0" u="none" strike="noStrike" cap="none">
              <a:solidFill>
                <a:srgbClr val="000000"/>
              </a:solidFill>
              <a:latin typeface="Arial"/>
              <a:ea typeface="Arial"/>
              <a:cs typeface="Arial"/>
              <a:sym typeface="Arial"/>
            </a:endParaRPr>
          </a:p>
        </p:txBody>
      </p:sp>
      <p:cxnSp>
        <p:nvCxnSpPr>
          <p:cNvPr id="297" name="Google Shape;297;p11"/>
          <p:cNvCxnSpPr/>
          <p:nvPr/>
        </p:nvCxnSpPr>
        <p:spPr>
          <a:xfrm>
            <a:off x="16187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298" name="Google Shape;298;p11"/>
          <p:cNvSpPr txBox="1"/>
          <p:nvPr/>
        </p:nvSpPr>
        <p:spPr>
          <a:xfrm>
            <a:off x="1618731" y="4476105"/>
            <a:ext cx="141605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Interface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Active 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Node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cxnSp>
        <p:nvCxnSpPr>
          <p:cNvPr id="299" name="Google Shape;299;p11"/>
          <p:cNvCxnSpPr/>
          <p:nvPr/>
        </p:nvCxnSpPr>
        <p:spPr>
          <a:xfrm>
            <a:off x="3158606"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00" name="Google Shape;300;p11"/>
          <p:cNvSpPr txBox="1"/>
          <p:nvPr/>
        </p:nvSpPr>
        <p:spPr>
          <a:xfrm>
            <a:off x="3142731" y="4499916"/>
            <a:ext cx="1813830"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Interaction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State machine</a:t>
            </a:r>
            <a:endParaRPr sz="1400" b="0" i="0" u="none" strike="noStrike" cap="none">
              <a:solidFill>
                <a:srgbClr val="000000"/>
              </a:solidFill>
              <a:latin typeface="Arial"/>
              <a:ea typeface="Arial"/>
              <a:cs typeface="Arial"/>
              <a:sym typeface="Arial"/>
            </a:endParaRPr>
          </a:p>
        </p:txBody>
      </p:sp>
      <p:cxnSp>
        <p:nvCxnSpPr>
          <p:cNvPr id="301" name="Google Shape;301;p11"/>
          <p:cNvCxnSpPr/>
          <p:nvPr/>
        </p:nvCxnSpPr>
        <p:spPr>
          <a:xfrm>
            <a:off x="48191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02" name="Google Shape;302;p11"/>
          <p:cNvSpPr txBox="1"/>
          <p:nvPr/>
        </p:nvSpPr>
        <p:spPr>
          <a:xfrm>
            <a:off x="4803256" y="4666605"/>
            <a:ext cx="1107547"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Package</a:t>
            </a:r>
            <a:endParaRPr sz="2000" b="0" i="0" u="none" strike="noStrike" cap="none">
              <a:solidFill>
                <a:srgbClr val="000000"/>
              </a:solidFill>
              <a:latin typeface="Arial"/>
              <a:ea typeface="Arial"/>
              <a:cs typeface="Arial"/>
              <a:sym typeface="Arial"/>
            </a:endParaRPr>
          </a:p>
        </p:txBody>
      </p:sp>
      <p:cxnSp>
        <p:nvCxnSpPr>
          <p:cNvPr id="303" name="Google Shape;303;p11"/>
          <p:cNvCxnSpPr/>
          <p:nvPr/>
        </p:nvCxnSpPr>
        <p:spPr>
          <a:xfrm>
            <a:off x="62669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04" name="Google Shape;304;p11"/>
          <p:cNvSpPr txBox="1"/>
          <p:nvPr/>
        </p:nvSpPr>
        <p:spPr>
          <a:xfrm>
            <a:off x="6251057" y="4666604"/>
            <a:ext cx="749116"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Note</a:t>
            </a:r>
            <a:endParaRPr sz="1400" b="0" i="0" u="none" strike="noStrike" cap="none">
              <a:solidFill>
                <a:srgbClr val="000000"/>
              </a:solidFill>
              <a:latin typeface="Arial"/>
              <a:ea typeface="Arial"/>
              <a:cs typeface="Arial"/>
              <a:sym typeface="Arial"/>
            </a:endParaRPr>
          </a:p>
        </p:txBody>
      </p:sp>
      <p:cxnSp>
        <p:nvCxnSpPr>
          <p:cNvPr id="305" name="Google Shape;305;p11"/>
          <p:cNvCxnSpPr/>
          <p:nvPr/>
        </p:nvCxnSpPr>
        <p:spPr>
          <a:xfrm flipH="1">
            <a:off x="7333730" y="3767000"/>
            <a:ext cx="11943" cy="3008976"/>
          </a:xfrm>
          <a:prstGeom prst="straightConnector1">
            <a:avLst/>
          </a:prstGeom>
          <a:noFill/>
          <a:ln w="9525" cap="flat" cmpd="sng">
            <a:solidFill>
              <a:schemeClr val="dk1"/>
            </a:solidFill>
            <a:prstDash val="solid"/>
            <a:round/>
            <a:headEnd type="none" w="sm" len="sm"/>
            <a:tailEnd type="none" w="sm" len="sm"/>
          </a:ln>
        </p:spPr>
      </p:cxnSp>
      <p:sp>
        <p:nvSpPr>
          <p:cNvPr id="306" name="Google Shape;306;p11"/>
          <p:cNvSpPr txBox="1"/>
          <p:nvPr/>
        </p:nvSpPr>
        <p:spPr>
          <a:xfrm>
            <a:off x="7317856" y="3980805"/>
            <a:ext cx="1841914"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Dependency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Association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Generalization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Realization</a:t>
            </a:r>
            <a:endParaRPr sz="1400" b="0" i="0" u="none" strike="noStrike" cap="none">
              <a:solidFill>
                <a:srgbClr val="000000"/>
              </a:solidFill>
              <a:latin typeface="Arial"/>
              <a:ea typeface="Arial"/>
              <a:cs typeface="Arial"/>
              <a:sym typeface="Arial"/>
            </a:endParaRPr>
          </a:p>
        </p:txBody>
      </p:sp>
      <p:cxnSp>
        <p:nvCxnSpPr>
          <p:cNvPr id="307" name="Google Shape;307;p11"/>
          <p:cNvCxnSpPr/>
          <p:nvPr/>
        </p:nvCxnSpPr>
        <p:spPr>
          <a:xfrm>
            <a:off x="9010131" y="3612020"/>
            <a:ext cx="0" cy="3124200"/>
          </a:xfrm>
          <a:prstGeom prst="straightConnector1">
            <a:avLst/>
          </a:prstGeom>
          <a:noFill/>
          <a:ln w="9525" cap="flat" cmpd="sng">
            <a:solidFill>
              <a:schemeClr val="dk1"/>
            </a:solidFill>
            <a:prstDash val="solid"/>
            <a:round/>
            <a:headEnd type="none" w="sm" len="sm"/>
            <a:tailEnd type="none" w="sm" len="sm"/>
          </a:ln>
        </p:spPr>
      </p:cxnSp>
      <p:sp>
        <p:nvSpPr>
          <p:cNvPr id="308" name="Google Shape;308;p11"/>
          <p:cNvSpPr txBox="1"/>
          <p:nvPr/>
        </p:nvSpPr>
        <p:spPr>
          <a:xfrm>
            <a:off x="8994257" y="3676005"/>
            <a:ext cx="1641218" cy="28352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Object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Use case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Sequence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Collaboration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State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Activity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Deployment</a:t>
            </a:r>
            <a:endParaRPr sz="1400" b="0" i="0" u="none" strike="noStrike" cap="none">
              <a:solidFill>
                <a:srgbClr val="000000"/>
              </a:solidFill>
              <a:latin typeface="Arial"/>
              <a:ea typeface="Arial"/>
              <a:cs typeface="Arial"/>
              <a:sym typeface="Arial"/>
            </a:endParaRPr>
          </a:p>
        </p:txBody>
      </p:sp>
      <p:cxnSp>
        <p:nvCxnSpPr>
          <p:cNvPr id="309" name="Google Shape;309;p11"/>
          <p:cNvCxnSpPr/>
          <p:nvPr/>
        </p:nvCxnSpPr>
        <p:spPr>
          <a:xfrm flipH="1">
            <a:off x="4990095" y="1801490"/>
            <a:ext cx="685800" cy="228600"/>
          </a:xfrm>
          <a:prstGeom prst="straightConnector1">
            <a:avLst/>
          </a:prstGeom>
          <a:noFill/>
          <a:ln w="28575" cap="flat" cmpd="sng">
            <a:solidFill>
              <a:schemeClr val="dk1"/>
            </a:solidFill>
            <a:prstDash val="solid"/>
            <a:round/>
            <a:headEnd type="none" w="sm" len="sm"/>
            <a:tailEnd type="none" w="sm" len="sm"/>
          </a:ln>
        </p:spPr>
      </p:cxnSp>
      <p:cxnSp>
        <p:nvCxnSpPr>
          <p:cNvPr id="310" name="Google Shape;310;p11"/>
          <p:cNvCxnSpPr/>
          <p:nvPr/>
        </p:nvCxnSpPr>
        <p:spPr>
          <a:xfrm>
            <a:off x="5675895" y="1801490"/>
            <a:ext cx="1219200" cy="304800"/>
          </a:xfrm>
          <a:prstGeom prst="straightConnector1">
            <a:avLst/>
          </a:prstGeom>
          <a:noFill/>
          <a:ln w="28575" cap="flat" cmpd="sng">
            <a:solidFill>
              <a:schemeClr val="dk1"/>
            </a:solidFill>
            <a:prstDash val="solid"/>
            <a:round/>
            <a:headEnd type="none" w="sm" len="sm"/>
            <a:tailEnd type="none" w="sm" len="sm"/>
          </a:ln>
        </p:spPr>
      </p:cxnSp>
      <p:cxnSp>
        <p:nvCxnSpPr>
          <p:cNvPr id="311" name="Google Shape;311;p11"/>
          <p:cNvCxnSpPr/>
          <p:nvPr/>
        </p:nvCxnSpPr>
        <p:spPr>
          <a:xfrm>
            <a:off x="6590295" y="1801490"/>
            <a:ext cx="2209800" cy="228600"/>
          </a:xfrm>
          <a:prstGeom prst="straightConnector1">
            <a:avLst/>
          </a:prstGeom>
          <a:noFill/>
          <a:ln w="28575" cap="flat" cmpd="sng">
            <a:solidFill>
              <a:schemeClr val="dk1"/>
            </a:solidFill>
            <a:prstDash val="solid"/>
            <a:round/>
            <a:headEnd type="none" w="sm" len="sm"/>
            <a:tailEnd type="none" w="sm" len="sm"/>
          </a:ln>
        </p:spPr>
      </p:cxnSp>
      <p:cxnSp>
        <p:nvCxnSpPr>
          <p:cNvPr id="312" name="Google Shape;312;p11"/>
          <p:cNvCxnSpPr/>
          <p:nvPr/>
        </p:nvCxnSpPr>
        <p:spPr>
          <a:xfrm>
            <a:off x="4563376" y="2782957"/>
            <a:ext cx="45719" cy="466333"/>
          </a:xfrm>
          <a:prstGeom prst="straightConnector1">
            <a:avLst/>
          </a:prstGeom>
          <a:noFill/>
          <a:ln w="28575" cap="flat" cmpd="sng">
            <a:solidFill>
              <a:schemeClr val="dk1"/>
            </a:solidFill>
            <a:prstDash val="solid"/>
            <a:round/>
            <a:headEnd type="none" w="sm" len="sm"/>
            <a:tailEnd type="none" w="sm" len="sm"/>
          </a:ln>
        </p:spPr>
      </p:cxnSp>
      <p:cxnSp>
        <p:nvCxnSpPr>
          <p:cNvPr id="313" name="Google Shape;313;p11"/>
          <p:cNvCxnSpPr/>
          <p:nvPr/>
        </p:nvCxnSpPr>
        <p:spPr>
          <a:xfrm>
            <a:off x="4837043" y="2822712"/>
            <a:ext cx="2445678" cy="466333"/>
          </a:xfrm>
          <a:prstGeom prst="straightConnector1">
            <a:avLst/>
          </a:prstGeom>
          <a:noFill/>
          <a:ln w="28575" cap="flat" cmpd="sng">
            <a:solidFill>
              <a:schemeClr val="dk1"/>
            </a:solidFill>
            <a:prstDash val="solid"/>
            <a:round/>
            <a:headEnd type="none" w="sm" len="sm"/>
            <a:tailEnd type="none" w="sm" len="sm"/>
          </a:ln>
        </p:spPr>
      </p:cxnSp>
      <p:cxnSp>
        <p:nvCxnSpPr>
          <p:cNvPr id="314" name="Google Shape;314;p11"/>
          <p:cNvCxnSpPr/>
          <p:nvPr/>
        </p:nvCxnSpPr>
        <p:spPr>
          <a:xfrm>
            <a:off x="5035826" y="2663687"/>
            <a:ext cx="3916669" cy="509403"/>
          </a:xfrm>
          <a:prstGeom prst="straightConnector1">
            <a:avLst/>
          </a:prstGeom>
          <a:noFill/>
          <a:ln w="28575" cap="flat" cmpd="sng">
            <a:solidFill>
              <a:schemeClr val="dk1"/>
            </a:solidFill>
            <a:prstDash val="solid"/>
            <a:round/>
            <a:headEnd type="none" w="sm" len="sm"/>
            <a:tailEnd type="none" w="sm" len="sm"/>
          </a:ln>
        </p:spPr>
      </p:cxnSp>
      <p:cxnSp>
        <p:nvCxnSpPr>
          <p:cNvPr id="315" name="Google Shape;315;p11"/>
          <p:cNvCxnSpPr/>
          <p:nvPr/>
        </p:nvCxnSpPr>
        <p:spPr>
          <a:xfrm flipH="1">
            <a:off x="2228331" y="3700740"/>
            <a:ext cx="1885432" cy="418176"/>
          </a:xfrm>
          <a:prstGeom prst="straightConnector1">
            <a:avLst/>
          </a:prstGeom>
          <a:noFill/>
          <a:ln w="28575" cap="flat" cmpd="sng">
            <a:solidFill>
              <a:schemeClr val="dk1"/>
            </a:solidFill>
            <a:prstDash val="solid"/>
            <a:round/>
            <a:headEnd type="none" w="sm" len="sm"/>
            <a:tailEnd type="none" w="sm" len="sm"/>
          </a:ln>
        </p:spPr>
      </p:cxnSp>
      <p:cxnSp>
        <p:nvCxnSpPr>
          <p:cNvPr id="316" name="Google Shape;316;p11"/>
          <p:cNvCxnSpPr/>
          <p:nvPr/>
        </p:nvCxnSpPr>
        <p:spPr>
          <a:xfrm>
            <a:off x="5274661" y="3683918"/>
            <a:ext cx="1297069" cy="434998"/>
          </a:xfrm>
          <a:prstGeom prst="straightConnector1">
            <a:avLst/>
          </a:prstGeom>
          <a:noFill/>
          <a:ln w="28575" cap="flat" cmpd="sng">
            <a:solidFill>
              <a:schemeClr val="dk1"/>
            </a:solidFill>
            <a:prstDash val="solid"/>
            <a:round/>
            <a:headEnd type="none" w="sm" len="sm"/>
            <a:tailEnd type="none" w="sm" len="sm"/>
          </a:ln>
        </p:spPr>
      </p:cxnSp>
      <p:cxnSp>
        <p:nvCxnSpPr>
          <p:cNvPr id="317" name="Google Shape;317;p11"/>
          <p:cNvCxnSpPr/>
          <p:nvPr/>
        </p:nvCxnSpPr>
        <p:spPr>
          <a:xfrm flipH="1">
            <a:off x="3904731" y="3715828"/>
            <a:ext cx="533400" cy="403088"/>
          </a:xfrm>
          <a:prstGeom prst="straightConnector1">
            <a:avLst/>
          </a:prstGeom>
          <a:noFill/>
          <a:ln w="28575" cap="flat" cmpd="sng">
            <a:solidFill>
              <a:schemeClr val="dk1"/>
            </a:solidFill>
            <a:prstDash val="solid"/>
            <a:round/>
            <a:headEnd type="none" w="sm" len="sm"/>
            <a:tailEnd type="none" w="sm" len="sm"/>
          </a:ln>
        </p:spPr>
      </p:cxnSp>
      <p:cxnSp>
        <p:nvCxnSpPr>
          <p:cNvPr id="318" name="Google Shape;318;p11"/>
          <p:cNvCxnSpPr/>
          <p:nvPr/>
        </p:nvCxnSpPr>
        <p:spPr>
          <a:xfrm>
            <a:off x="4913861" y="3712910"/>
            <a:ext cx="286269" cy="406006"/>
          </a:xfrm>
          <a:prstGeom prst="straightConnector1">
            <a:avLst/>
          </a:prstGeom>
          <a:noFill/>
          <a:ln w="28575" cap="flat" cmpd="sng">
            <a:solidFill>
              <a:schemeClr val="dk1"/>
            </a:solidFill>
            <a:prstDash val="solid"/>
            <a:round/>
            <a:headEnd type="none" w="sm" len="sm"/>
            <a:tailEnd type="none" w="sm" len="sm"/>
          </a:ln>
        </p:spPr>
      </p:cxnSp>
      <p:sp>
        <p:nvSpPr>
          <p:cNvPr id="319" name="Google Shape;319;p11"/>
          <p:cNvSpPr txBox="1"/>
          <p:nvPr/>
        </p:nvSpPr>
        <p:spPr>
          <a:xfrm>
            <a:off x="7276095" y="2079304"/>
            <a:ext cx="801823"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Rules</a:t>
            </a:r>
            <a:endParaRPr sz="1400" b="0" i="0" u="none" strike="noStrike" cap="none">
              <a:solidFill>
                <a:srgbClr val="000000"/>
              </a:solidFill>
              <a:latin typeface="Arial"/>
              <a:ea typeface="Arial"/>
              <a:cs typeface="Arial"/>
              <a:sym typeface="Arial"/>
            </a:endParaRPr>
          </a:p>
        </p:txBody>
      </p:sp>
      <p:sp>
        <p:nvSpPr>
          <p:cNvPr id="320" name="Google Shape;320;p11"/>
          <p:cNvSpPr txBox="1"/>
          <p:nvPr/>
        </p:nvSpPr>
        <p:spPr>
          <a:xfrm>
            <a:off x="6509426" y="2376802"/>
            <a:ext cx="225200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name, scope, visibility</a:t>
            </a:r>
            <a:endParaRPr sz="1400" b="0" i="0" u="none" strike="noStrike" cap="none">
              <a:solidFill>
                <a:srgbClr val="000000"/>
              </a:solidFill>
              <a:latin typeface="Arial"/>
              <a:ea typeface="Arial"/>
              <a:cs typeface="Arial"/>
              <a:sym typeface="Arial"/>
            </a:endParaRPr>
          </a:p>
        </p:txBody>
      </p:sp>
      <p:sp>
        <p:nvSpPr>
          <p:cNvPr id="321" name="Google Shape;321;p11"/>
          <p:cNvSpPr txBox="1"/>
          <p:nvPr/>
        </p:nvSpPr>
        <p:spPr>
          <a:xfrm>
            <a:off x="3200780" y="5204422"/>
            <a:ext cx="1577975"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Use case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Collaboration</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2" name="Google Shape;322;p11"/>
          <p:cNvSpPr/>
          <p:nvPr/>
        </p:nvSpPr>
        <p:spPr>
          <a:xfrm>
            <a:off x="4087639" y="2776666"/>
            <a:ext cx="397110" cy="417108"/>
          </a:xfrm>
          <a:prstGeom prst="up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323" name="Google Shape;323;p11"/>
          <p:cNvSpPr/>
          <p:nvPr/>
        </p:nvSpPr>
        <p:spPr>
          <a:xfrm>
            <a:off x="7095207" y="2797284"/>
            <a:ext cx="397110" cy="391794"/>
          </a:xfrm>
          <a:prstGeom prst="up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324" name="Google Shape;324;p11"/>
          <p:cNvSpPr/>
          <p:nvPr/>
        </p:nvSpPr>
        <p:spPr>
          <a:xfrm>
            <a:off x="9363540" y="2845509"/>
            <a:ext cx="397110" cy="374769"/>
          </a:xfrm>
          <a:prstGeom prst="up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325" name="Google Shape;325;p11"/>
          <p:cNvSpPr/>
          <p:nvPr/>
        </p:nvSpPr>
        <p:spPr>
          <a:xfrm>
            <a:off x="1543111" y="3226684"/>
            <a:ext cx="8975700" cy="16929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Calibri"/>
                <a:ea typeface="Calibri"/>
                <a:cs typeface="Calibri"/>
                <a:sym typeface="Calibri"/>
              </a:rPr>
              <a:t>UML is made up of three conceptual elements. They are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lt1"/>
              </a:buClr>
              <a:buSzPts val="2200"/>
              <a:buFont typeface="Arial"/>
              <a:buChar char="•"/>
            </a:pPr>
            <a:r>
              <a:rPr lang="en-US" sz="2200" b="1" i="0" u="none" strike="noStrike" cap="none">
                <a:solidFill>
                  <a:schemeClr val="lt1"/>
                </a:solidFill>
                <a:latin typeface="Calibri"/>
                <a:ea typeface="Calibri"/>
                <a:cs typeface="Calibri"/>
                <a:sym typeface="Calibri"/>
              </a:rPr>
              <a:t>Building blocks which make up the UML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lt1"/>
              </a:buClr>
              <a:buSzPts val="2200"/>
              <a:buFont typeface="Arial"/>
              <a:buChar char="•"/>
            </a:pPr>
            <a:r>
              <a:rPr lang="en-US" sz="2200" b="1" i="0" u="none" strike="noStrike" cap="none">
                <a:solidFill>
                  <a:schemeClr val="lt1"/>
                </a:solidFill>
                <a:latin typeface="Calibri"/>
                <a:ea typeface="Calibri"/>
                <a:cs typeface="Calibri"/>
                <a:sym typeface="Calibri"/>
              </a:rPr>
              <a:t>Rules that dictate how these building blocks can be put together</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lt1"/>
              </a:buClr>
              <a:buSzPts val="2200"/>
              <a:buFont typeface="Arial"/>
              <a:buChar char="•"/>
            </a:pPr>
            <a:r>
              <a:rPr lang="en-US" sz="2200" b="1" i="0" u="none" strike="noStrike" cap="none">
                <a:solidFill>
                  <a:schemeClr val="lt1"/>
                </a:solidFill>
                <a:latin typeface="Calibri"/>
                <a:ea typeface="Calibri"/>
                <a:cs typeface="Calibri"/>
                <a:sym typeface="Calibri"/>
              </a:rPr>
              <a:t>Common mechanisms that apply through out UML</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1"/>
                                          </p:stCondLst>
                                        </p:cTn>
                                        <p:tgtEl>
                                          <p:spTgt spid="322"/>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1"/>
                                          </p:stCondLst>
                                        </p:cTn>
                                        <p:tgtEl>
                                          <p:spTgt spid="32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1"/>
                                          </p:stCondLst>
                                        </p:cTn>
                                        <p:tgtEl>
                                          <p:spTgt spid="324"/>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1"/>
                                          </p:stCondLst>
                                        </p:cTn>
                                        <p:tgtEl>
                                          <p:spTgt spid="3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2"/>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33" name="Google Shape;333;p12"/>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Conceptual Models of UML</a:t>
            </a:r>
            <a:endParaRPr sz="2000" b="1" i="0" u="none" strike="noStrike" cap="none">
              <a:solidFill>
                <a:srgbClr val="C55A11"/>
              </a:solidFill>
              <a:latin typeface="Calibri"/>
              <a:ea typeface="Calibri"/>
              <a:cs typeface="Calibri"/>
              <a:sym typeface="Calibri"/>
            </a:endParaRPr>
          </a:p>
        </p:txBody>
      </p:sp>
      <p:sp>
        <p:nvSpPr>
          <p:cNvPr id="335" name="Google Shape;33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12</a:t>
            </a:fld>
            <a:endParaRPr/>
          </a:p>
        </p:txBody>
      </p:sp>
      <p:sp>
        <p:nvSpPr>
          <p:cNvPr id="336" name="Google Shape;336;p12"/>
          <p:cNvSpPr/>
          <p:nvPr/>
        </p:nvSpPr>
        <p:spPr>
          <a:xfrm>
            <a:off x="4990095" y="1344290"/>
            <a:ext cx="16002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UML</a:t>
            </a:r>
            <a:endParaRPr sz="1400" b="0" i="0" u="none" strike="noStrike" cap="none">
              <a:solidFill>
                <a:srgbClr val="000000"/>
              </a:solidFill>
              <a:latin typeface="Arial"/>
              <a:ea typeface="Arial"/>
              <a:cs typeface="Arial"/>
              <a:sym typeface="Arial"/>
            </a:endParaRPr>
          </a:p>
        </p:txBody>
      </p:sp>
      <p:sp>
        <p:nvSpPr>
          <p:cNvPr id="337" name="Google Shape;337;p12"/>
          <p:cNvSpPr/>
          <p:nvPr/>
        </p:nvSpPr>
        <p:spPr>
          <a:xfrm>
            <a:off x="6413801" y="2116217"/>
            <a:ext cx="2319796" cy="6858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338" name="Google Shape;338;p12"/>
          <p:cNvSpPr/>
          <p:nvPr/>
        </p:nvSpPr>
        <p:spPr>
          <a:xfrm>
            <a:off x="8800095" y="2030090"/>
            <a:ext cx="1603538" cy="838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Common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mechanisms</a:t>
            </a:r>
            <a:endParaRPr sz="1400" b="0" i="0" u="none" strike="noStrike" cap="none">
              <a:solidFill>
                <a:srgbClr val="000000"/>
              </a:solidFill>
              <a:latin typeface="Arial"/>
              <a:ea typeface="Arial"/>
              <a:cs typeface="Arial"/>
              <a:sym typeface="Arial"/>
            </a:endParaRPr>
          </a:p>
        </p:txBody>
      </p:sp>
      <p:sp>
        <p:nvSpPr>
          <p:cNvPr id="339" name="Google Shape;339;p12"/>
          <p:cNvSpPr/>
          <p:nvPr/>
        </p:nvSpPr>
        <p:spPr>
          <a:xfrm>
            <a:off x="3290504" y="2016838"/>
            <a:ext cx="1752600" cy="762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Building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blocks</a:t>
            </a:r>
            <a:endParaRPr sz="1400" b="0" i="0" u="none" strike="noStrike" cap="none">
              <a:solidFill>
                <a:srgbClr val="000000"/>
              </a:solidFill>
              <a:latin typeface="Arial"/>
              <a:ea typeface="Arial"/>
              <a:cs typeface="Arial"/>
              <a:sym typeface="Arial"/>
            </a:endParaRPr>
          </a:p>
        </p:txBody>
      </p:sp>
      <p:sp>
        <p:nvSpPr>
          <p:cNvPr id="340" name="Google Shape;340;p12"/>
          <p:cNvSpPr/>
          <p:nvPr/>
        </p:nvSpPr>
        <p:spPr>
          <a:xfrm>
            <a:off x="4075695" y="3249290"/>
            <a:ext cx="12192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Things</a:t>
            </a:r>
            <a:endParaRPr sz="1400" b="0" i="0" u="none" strike="noStrike" cap="none">
              <a:solidFill>
                <a:srgbClr val="000000"/>
              </a:solidFill>
              <a:latin typeface="Arial"/>
              <a:ea typeface="Arial"/>
              <a:cs typeface="Arial"/>
              <a:sym typeface="Arial"/>
            </a:endParaRPr>
          </a:p>
        </p:txBody>
      </p:sp>
      <p:sp>
        <p:nvSpPr>
          <p:cNvPr id="341" name="Google Shape;341;p12"/>
          <p:cNvSpPr/>
          <p:nvPr/>
        </p:nvSpPr>
        <p:spPr>
          <a:xfrm>
            <a:off x="6881843" y="3315551"/>
            <a:ext cx="12954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Relations</a:t>
            </a:r>
            <a:endParaRPr sz="1400" b="0" i="0" u="none" strike="noStrike" cap="none">
              <a:solidFill>
                <a:srgbClr val="000000"/>
              </a:solidFill>
              <a:latin typeface="Arial"/>
              <a:ea typeface="Arial"/>
              <a:cs typeface="Arial"/>
              <a:sym typeface="Arial"/>
            </a:endParaRPr>
          </a:p>
        </p:txBody>
      </p:sp>
      <p:sp>
        <p:nvSpPr>
          <p:cNvPr id="342" name="Google Shape;342;p12"/>
          <p:cNvSpPr/>
          <p:nvPr/>
        </p:nvSpPr>
        <p:spPr>
          <a:xfrm>
            <a:off x="8952495" y="3173090"/>
            <a:ext cx="1295400" cy="4572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Diagrams</a:t>
            </a:r>
            <a:endParaRPr sz="1400" b="0" i="0" u="none" strike="noStrike" cap="none">
              <a:solidFill>
                <a:srgbClr val="000000"/>
              </a:solidFill>
              <a:latin typeface="Arial"/>
              <a:ea typeface="Arial"/>
              <a:cs typeface="Arial"/>
              <a:sym typeface="Arial"/>
            </a:endParaRPr>
          </a:p>
        </p:txBody>
      </p:sp>
      <p:sp>
        <p:nvSpPr>
          <p:cNvPr id="343" name="Google Shape;343;p12"/>
          <p:cNvSpPr/>
          <p:nvPr/>
        </p:nvSpPr>
        <p:spPr>
          <a:xfrm>
            <a:off x="1618731" y="4118916"/>
            <a:ext cx="12954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Structural</a:t>
            </a:r>
            <a:endParaRPr sz="2000" b="0" i="0" u="none" strike="noStrike" cap="none">
              <a:solidFill>
                <a:srgbClr val="000000"/>
              </a:solidFill>
              <a:latin typeface="Arial"/>
              <a:ea typeface="Arial"/>
              <a:cs typeface="Arial"/>
              <a:sym typeface="Arial"/>
            </a:endParaRPr>
          </a:p>
        </p:txBody>
      </p:sp>
      <p:sp>
        <p:nvSpPr>
          <p:cNvPr id="344" name="Google Shape;344;p12"/>
          <p:cNvSpPr/>
          <p:nvPr/>
        </p:nvSpPr>
        <p:spPr>
          <a:xfrm>
            <a:off x="3066531" y="4118916"/>
            <a:ext cx="14478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Behavioral</a:t>
            </a:r>
            <a:endParaRPr sz="2000" b="0" i="0" u="none" strike="noStrike" cap="none">
              <a:solidFill>
                <a:srgbClr val="000000"/>
              </a:solidFill>
              <a:latin typeface="Arial"/>
              <a:ea typeface="Arial"/>
              <a:cs typeface="Arial"/>
              <a:sym typeface="Arial"/>
            </a:endParaRPr>
          </a:p>
        </p:txBody>
      </p:sp>
      <p:sp>
        <p:nvSpPr>
          <p:cNvPr id="345" name="Google Shape;345;p12"/>
          <p:cNvSpPr/>
          <p:nvPr/>
        </p:nvSpPr>
        <p:spPr>
          <a:xfrm>
            <a:off x="4666731" y="4118916"/>
            <a:ext cx="12192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Grouping</a:t>
            </a:r>
            <a:endParaRPr sz="2000" b="0" i="0" u="none" strike="noStrike" cap="none">
              <a:solidFill>
                <a:srgbClr val="000000"/>
              </a:solidFill>
              <a:latin typeface="Arial"/>
              <a:ea typeface="Arial"/>
              <a:cs typeface="Arial"/>
              <a:sym typeface="Arial"/>
            </a:endParaRPr>
          </a:p>
        </p:txBody>
      </p:sp>
      <p:sp>
        <p:nvSpPr>
          <p:cNvPr id="346" name="Google Shape;346;p12"/>
          <p:cNvSpPr/>
          <p:nvPr/>
        </p:nvSpPr>
        <p:spPr>
          <a:xfrm>
            <a:off x="6038331" y="4118916"/>
            <a:ext cx="1143000" cy="381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Annotate</a:t>
            </a:r>
            <a:endParaRPr sz="1800" b="0" i="0" u="none" strike="noStrike" cap="none">
              <a:solidFill>
                <a:srgbClr val="000000"/>
              </a:solidFill>
              <a:latin typeface="Arial"/>
              <a:ea typeface="Arial"/>
              <a:cs typeface="Arial"/>
              <a:sym typeface="Arial"/>
            </a:endParaRPr>
          </a:p>
        </p:txBody>
      </p:sp>
      <p:cxnSp>
        <p:nvCxnSpPr>
          <p:cNvPr id="347" name="Google Shape;347;p12"/>
          <p:cNvCxnSpPr/>
          <p:nvPr/>
        </p:nvCxnSpPr>
        <p:spPr>
          <a:xfrm>
            <a:off x="16187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48" name="Google Shape;348;p12"/>
          <p:cNvSpPr txBox="1"/>
          <p:nvPr/>
        </p:nvSpPr>
        <p:spPr>
          <a:xfrm>
            <a:off x="1618731" y="4476105"/>
            <a:ext cx="141605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Interface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Active 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Node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cxnSp>
        <p:nvCxnSpPr>
          <p:cNvPr id="349" name="Google Shape;349;p12"/>
          <p:cNvCxnSpPr/>
          <p:nvPr/>
        </p:nvCxnSpPr>
        <p:spPr>
          <a:xfrm>
            <a:off x="3158606"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50" name="Google Shape;350;p12"/>
          <p:cNvSpPr txBox="1"/>
          <p:nvPr/>
        </p:nvSpPr>
        <p:spPr>
          <a:xfrm>
            <a:off x="3142731" y="4499916"/>
            <a:ext cx="1813830"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Interaction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State machine</a:t>
            </a:r>
            <a:endParaRPr sz="1400" b="0" i="0" u="none" strike="noStrike" cap="none">
              <a:solidFill>
                <a:srgbClr val="000000"/>
              </a:solidFill>
              <a:latin typeface="Arial"/>
              <a:ea typeface="Arial"/>
              <a:cs typeface="Arial"/>
              <a:sym typeface="Arial"/>
            </a:endParaRPr>
          </a:p>
        </p:txBody>
      </p:sp>
      <p:cxnSp>
        <p:nvCxnSpPr>
          <p:cNvPr id="351" name="Google Shape;351;p12"/>
          <p:cNvCxnSpPr/>
          <p:nvPr/>
        </p:nvCxnSpPr>
        <p:spPr>
          <a:xfrm>
            <a:off x="48191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52" name="Google Shape;352;p12"/>
          <p:cNvSpPr txBox="1"/>
          <p:nvPr/>
        </p:nvSpPr>
        <p:spPr>
          <a:xfrm>
            <a:off x="4803256" y="4666605"/>
            <a:ext cx="1107547"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Package</a:t>
            </a:r>
            <a:endParaRPr sz="2000" b="0" i="0" u="none" strike="noStrike" cap="none">
              <a:solidFill>
                <a:srgbClr val="000000"/>
              </a:solidFill>
              <a:latin typeface="Arial"/>
              <a:ea typeface="Arial"/>
              <a:cs typeface="Arial"/>
              <a:sym typeface="Arial"/>
            </a:endParaRPr>
          </a:p>
        </p:txBody>
      </p:sp>
      <p:cxnSp>
        <p:nvCxnSpPr>
          <p:cNvPr id="353" name="Google Shape;353;p12"/>
          <p:cNvCxnSpPr/>
          <p:nvPr/>
        </p:nvCxnSpPr>
        <p:spPr>
          <a:xfrm>
            <a:off x="6266931" y="4499916"/>
            <a:ext cx="0" cy="2209800"/>
          </a:xfrm>
          <a:prstGeom prst="straightConnector1">
            <a:avLst/>
          </a:prstGeom>
          <a:noFill/>
          <a:ln w="9525" cap="flat" cmpd="sng">
            <a:solidFill>
              <a:schemeClr val="dk1"/>
            </a:solidFill>
            <a:prstDash val="solid"/>
            <a:round/>
            <a:headEnd type="none" w="sm" len="sm"/>
            <a:tailEnd type="none" w="sm" len="sm"/>
          </a:ln>
        </p:spPr>
      </p:cxnSp>
      <p:sp>
        <p:nvSpPr>
          <p:cNvPr id="354" name="Google Shape;354;p12"/>
          <p:cNvSpPr txBox="1"/>
          <p:nvPr/>
        </p:nvSpPr>
        <p:spPr>
          <a:xfrm>
            <a:off x="6251057" y="4666604"/>
            <a:ext cx="749116"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Note</a:t>
            </a:r>
            <a:endParaRPr sz="1400" b="0" i="0" u="none" strike="noStrike" cap="none">
              <a:solidFill>
                <a:srgbClr val="000000"/>
              </a:solidFill>
              <a:latin typeface="Arial"/>
              <a:ea typeface="Arial"/>
              <a:cs typeface="Arial"/>
              <a:sym typeface="Arial"/>
            </a:endParaRPr>
          </a:p>
        </p:txBody>
      </p:sp>
      <p:cxnSp>
        <p:nvCxnSpPr>
          <p:cNvPr id="355" name="Google Shape;355;p12"/>
          <p:cNvCxnSpPr/>
          <p:nvPr/>
        </p:nvCxnSpPr>
        <p:spPr>
          <a:xfrm flipH="1">
            <a:off x="7333730" y="3767000"/>
            <a:ext cx="11943" cy="3008976"/>
          </a:xfrm>
          <a:prstGeom prst="straightConnector1">
            <a:avLst/>
          </a:prstGeom>
          <a:noFill/>
          <a:ln w="9525" cap="flat" cmpd="sng">
            <a:solidFill>
              <a:schemeClr val="dk1"/>
            </a:solidFill>
            <a:prstDash val="solid"/>
            <a:round/>
            <a:headEnd type="none" w="sm" len="sm"/>
            <a:tailEnd type="none" w="sm" len="sm"/>
          </a:ln>
        </p:spPr>
      </p:cxnSp>
      <p:sp>
        <p:nvSpPr>
          <p:cNvPr id="356" name="Google Shape;356;p12"/>
          <p:cNvSpPr txBox="1"/>
          <p:nvPr/>
        </p:nvSpPr>
        <p:spPr>
          <a:xfrm>
            <a:off x="7317856" y="3980805"/>
            <a:ext cx="1841914"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Dependency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Association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Generalization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Realization</a:t>
            </a:r>
            <a:endParaRPr sz="1400" b="0" i="0" u="none" strike="noStrike" cap="none">
              <a:solidFill>
                <a:srgbClr val="000000"/>
              </a:solidFill>
              <a:latin typeface="Arial"/>
              <a:ea typeface="Arial"/>
              <a:cs typeface="Arial"/>
              <a:sym typeface="Arial"/>
            </a:endParaRPr>
          </a:p>
        </p:txBody>
      </p:sp>
      <p:cxnSp>
        <p:nvCxnSpPr>
          <p:cNvPr id="357" name="Google Shape;357;p12"/>
          <p:cNvCxnSpPr/>
          <p:nvPr/>
        </p:nvCxnSpPr>
        <p:spPr>
          <a:xfrm>
            <a:off x="9010131" y="3612020"/>
            <a:ext cx="0" cy="3124200"/>
          </a:xfrm>
          <a:prstGeom prst="straightConnector1">
            <a:avLst/>
          </a:prstGeom>
          <a:noFill/>
          <a:ln w="9525" cap="flat" cmpd="sng">
            <a:solidFill>
              <a:schemeClr val="dk1"/>
            </a:solidFill>
            <a:prstDash val="solid"/>
            <a:round/>
            <a:headEnd type="none" w="sm" len="sm"/>
            <a:tailEnd type="none" w="sm" len="sm"/>
          </a:ln>
        </p:spPr>
      </p:cxnSp>
      <p:sp>
        <p:nvSpPr>
          <p:cNvPr id="358" name="Google Shape;358;p12"/>
          <p:cNvSpPr txBox="1"/>
          <p:nvPr/>
        </p:nvSpPr>
        <p:spPr>
          <a:xfrm>
            <a:off x="8994257" y="3676005"/>
            <a:ext cx="1705567" cy="28352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Object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Use case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Sequence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Collaboration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State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Activity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Deployment</a:t>
            </a:r>
            <a:endParaRPr sz="1400" b="0" i="0" u="none" strike="noStrike" cap="none">
              <a:solidFill>
                <a:srgbClr val="000000"/>
              </a:solidFill>
              <a:latin typeface="Arial"/>
              <a:ea typeface="Arial"/>
              <a:cs typeface="Arial"/>
              <a:sym typeface="Arial"/>
            </a:endParaRPr>
          </a:p>
        </p:txBody>
      </p:sp>
      <p:cxnSp>
        <p:nvCxnSpPr>
          <p:cNvPr id="359" name="Google Shape;359;p12"/>
          <p:cNvCxnSpPr/>
          <p:nvPr/>
        </p:nvCxnSpPr>
        <p:spPr>
          <a:xfrm flipH="1">
            <a:off x="4990095" y="1801490"/>
            <a:ext cx="685800" cy="228600"/>
          </a:xfrm>
          <a:prstGeom prst="straightConnector1">
            <a:avLst/>
          </a:prstGeom>
          <a:noFill/>
          <a:ln w="28575" cap="flat" cmpd="sng">
            <a:solidFill>
              <a:schemeClr val="dk1"/>
            </a:solidFill>
            <a:prstDash val="solid"/>
            <a:round/>
            <a:headEnd type="none" w="sm" len="sm"/>
            <a:tailEnd type="none" w="sm" len="sm"/>
          </a:ln>
        </p:spPr>
      </p:cxnSp>
      <p:cxnSp>
        <p:nvCxnSpPr>
          <p:cNvPr id="360" name="Google Shape;360;p12"/>
          <p:cNvCxnSpPr/>
          <p:nvPr/>
        </p:nvCxnSpPr>
        <p:spPr>
          <a:xfrm>
            <a:off x="5675895" y="1801490"/>
            <a:ext cx="1219200" cy="304800"/>
          </a:xfrm>
          <a:prstGeom prst="straightConnector1">
            <a:avLst/>
          </a:prstGeom>
          <a:noFill/>
          <a:ln w="28575" cap="flat" cmpd="sng">
            <a:solidFill>
              <a:schemeClr val="dk1"/>
            </a:solidFill>
            <a:prstDash val="solid"/>
            <a:round/>
            <a:headEnd type="none" w="sm" len="sm"/>
            <a:tailEnd type="none" w="sm" len="sm"/>
          </a:ln>
        </p:spPr>
      </p:cxnSp>
      <p:cxnSp>
        <p:nvCxnSpPr>
          <p:cNvPr id="361" name="Google Shape;361;p12"/>
          <p:cNvCxnSpPr/>
          <p:nvPr/>
        </p:nvCxnSpPr>
        <p:spPr>
          <a:xfrm>
            <a:off x="6590295" y="1801490"/>
            <a:ext cx="2209800" cy="228600"/>
          </a:xfrm>
          <a:prstGeom prst="straightConnector1">
            <a:avLst/>
          </a:prstGeom>
          <a:noFill/>
          <a:ln w="28575" cap="flat" cmpd="sng">
            <a:solidFill>
              <a:schemeClr val="dk1"/>
            </a:solidFill>
            <a:prstDash val="solid"/>
            <a:round/>
            <a:headEnd type="none" w="sm" len="sm"/>
            <a:tailEnd type="none" w="sm" len="sm"/>
          </a:ln>
        </p:spPr>
      </p:cxnSp>
      <p:cxnSp>
        <p:nvCxnSpPr>
          <p:cNvPr id="362" name="Google Shape;362;p12"/>
          <p:cNvCxnSpPr/>
          <p:nvPr/>
        </p:nvCxnSpPr>
        <p:spPr>
          <a:xfrm>
            <a:off x="4563376" y="2782957"/>
            <a:ext cx="45719" cy="466333"/>
          </a:xfrm>
          <a:prstGeom prst="straightConnector1">
            <a:avLst/>
          </a:prstGeom>
          <a:noFill/>
          <a:ln w="28575" cap="flat" cmpd="sng">
            <a:solidFill>
              <a:schemeClr val="dk1"/>
            </a:solidFill>
            <a:prstDash val="solid"/>
            <a:round/>
            <a:headEnd type="none" w="sm" len="sm"/>
            <a:tailEnd type="none" w="sm" len="sm"/>
          </a:ln>
        </p:spPr>
      </p:cxnSp>
      <p:cxnSp>
        <p:nvCxnSpPr>
          <p:cNvPr id="363" name="Google Shape;363;p12"/>
          <p:cNvCxnSpPr/>
          <p:nvPr/>
        </p:nvCxnSpPr>
        <p:spPr>
          <a:xfrm>
            <a:off x="4837043" y="2822712"/>
            <a:ext cx="2445678" cy="466333"/>
          </a:xfrm>
          <a:prstGeom prst="straightConnector1">
            <a:avLst/>
          </a:prstGeom>
          <a:noFill/>
          <a:ln w="28575" cap="flat" cmpd="sng">
            <a:solidFill>
              <a:schemeClr val="dk1"/>
            </a:solidFill>
            <a:prstDash val="solid"/>
            <a:round/>
            <a:headEnd type="none" w="sm" len="sm"/>
            <a:tailEnd type="none" w="sm" len="sm"/>
          </a:ln>
        </p:spPr>
      </p:cxnSp>
      <p:cxnSp>
        <p:nvCxnSpPr>
          <p:cNvPr id="364" name="Google Shape;364;p12"/>
          <p:cNvCxnSpPr/>
          <p:nvPr/>
        </p:nvCxnSpPr>
        <p:spPr>
          <a:xfrm>
            <a:off x="5035826" y="2663687"/>
            <a:ext cx="3916669" cy="509403"/>
          </a:xfrm>
          <a:prstGeom prst="straightConnector1">
            <a:avLst/>
          </a:prstGeom>
          <a:noFill/>
          <a:ln w="28575" cap="flat" cmpd="sng">
            <a:solidFill>
              <a:schemeClr val="dk1"/>
            </a:solidFill>
            <a:prstDash val="solid"/>
            <a:round/>
            <a:headEnd type="none" w="sm" len="sm"/>
            <a:tailEnd type="none" w="sm" len="sm"/>
          </a:ln>
        </p:spPr>
      </p:cxnSp>
      <p:cxnSp>
        <p:nvCxnSpPr>
          <p:cNvPr id="365" name="Google Shape;365;p12"/>
          <p:cNvCxnSpPr/>
          <p:nvPr/>
        </p:nvCxnSpPr>
        <p:spPr>
          <a:xfrm flipH="1">
            <a:off x="2228331" y="3700740"/>
            <a:ext cx="1885432" cy="418176"/>
          </a:xfrm>
          <a:prstGeom prst="straightConnector1">
            <a:avLst/>
          </a:prstGeom>
          <a:noFill/>
          <a:ln w="28575" cap="flat" cmpd="sng">
            <a:solidFill>
              <a:schemeClr val="dk1"/>
            </a:solidFill>
            <a:prstDash val="solid"/>
            <a:round/>
            <a:headEnd type="none" w="sm" len="sm"/>
            <a:tailEnd type="none" w="sm" len="sm"/>
          </a:ln>
        </p:spPr>
      </p:cxnSp>
      <p:cxnSp>
        <p:nvCxnSpPr>
          <p:cNvPr id="366" name="Google Shape;366;p12"/>
          <p:cNvCxnSpPr/>
          <p:nvPr/>
        </p:nvCxnSpPr>
        <p:spPr>
          <a:xfrm>
            <a:off x="5274661" y="3683918"/>
            <a:ext cx="1297069" cy="434998"/>
          </a:xfrm>
          <a:prstGeom prst="straightConnector1">
            <a:avLst/>
          </a:prstGeom>
          <a:noFill/>
          <a:ln w="28575" cap="flat" cmpd="sng">
            <a:solidFill>
              <a:schemeClr val="dk1"/>
            </a:solidFill>
            <a:prstDash val="solid"/>
            <a:round/>
            <a:headEnd type="none" w="sm" len="sm"/>
            <a:tailEnd type="none" w="sm" len="sm"/>
          </a:ln>
        </p:spPr>
      </p:cxnSp>
      <p:cxnSp>
        <p:nvCxnSpPr>
          <p:cNvPr id="367" name="Google Shape;367;p12"/>
          <p:cNvCxnSpPr/>
          <p:nvPr/>
        </p:nvCxnSpPr>
        <p:spPr>
          <a:xfrm flipH="1">
            <a:off x="3904731" y="3715828"/>
            <a:ext cx="533400" cy="403088"/>
          </a:xfrm>
          <a:prstGeom prst="straightConnector1">
            <a:avLst/>
          </a:prstGeom>
          <a:noFill/>
          <a:ln w="28575" cap="flat" cmpd="sng">
            <a:solidFill>
              <a:schemeClr val="dk1"/>
            </a:solidFill>
            <a:prstDash val="solid"/>
            <a:round/>
            <a:headEnd type="none" w="sm" len="sm"/>
            <a:tailEnd type="none" w="sm" len="sm"/>
          </a:ln>
        </p:spPr>
      </p:cxnSp>
      <p:cxnSp>
        <p:nvCxnSpPr>
          <p:cNvPr id="368" name="Google Shape;368;p12"/>
          <p:cNvCxnSpPr/>
          <p:nvPr/>
        </p:nvCxnSpPr>
        <p:spPr>
          <a:xfrm>
            <a:off x="4913861" y="3712910"/>
            <a:ext cx="286269" cy="406006"/>
          </a:xfrm>
          <a:prstGeom prst="straightConnector1">
            <a:avLst/>
          </a:prstGeom>
          <a:noFill/>
          <a:ln w="28575" cap="flat" cmpd="sng">
            <a:solidFill>
              <a:schemeClr val="dk1"/>
            </a:solidFill>
            <a:prstDash val="solid"/>
            <a:round/>
            <a:headEnd type="none" w="sm" len="sm"/>
            <a:tailEnd type="none" w="sm" len="sm"/>
          </a:ln>
        </p:spPr>
      </p:cxnSp>
      <p:sp>
        <p:nvSpPr>
          <p:cNvPr id="369" name="Google Shape;369;p12"/>
          <p:cNvSpPr txBox="1"/>
          <p:nvPr/>
        </p:nvSpPr>
        <p:spPr>
          <a:xfrm>
            <a:off x="7276095" y="2079304"/>
            <a:ext cx="801823"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Rules</a:t>
            </a:r>
            <a:endParaRPr sz="1400" b="0" i="0" u="none" strike="noStrike" cap="none">
              <a:solidFill>
                <a:srgbClr val="000000"/>
              </a:solidFill>
              <a:latin typeface="Arial"/>
              <a:ea typeface="Arial"/>
              <a:cs typeface="Arial"/>
              <a:sym typeface="Arial"/>
            </a:endParaRPr>
          </a:p>
        </p:txBody>
      </p:sp>
      <p:sp>
        <p:nvSpPr>
          <p:cNvPr id="370" name="Google Shape;370;p12"/>
          <p:cNvSpPr txBox="1"/>
          <p:nvPr/>
        </p:nvSpPr>
        <p:spPr>
          <a:xfrm>
            <a:off x="6509426" y="2376802"/>
            <a:ext cx="225200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name, scope, visibility</a:t>
            </a:r>
            <a:endParaRPr sz="1400" b="0" i="0" u="none" strike="noStrike" cap="none">
              <a:solidFill>
                <a:srgbClr val="000000"/>
              </a:solidFill>
              <a:latin typeface="Arial"/>
              <a:ea typeface="Arial"/>
              <a:cs typeface="Arial"/>
              <a:sym typeface="Arial"/>
            </a:endParaRPr>
          </a:p>
        </p:txBody>
      </p:sp>
      <p:sp>
        <p:nvSpPr>
          <p:cNvPr id="371" name="Google Shape;371;p12"/>
          <p:cNvSpPr txBox="1"/>
          <p:nvPr/>
        </p:nvSpPr>
        <p:spPr>
          <a:xfrm>
            <a:off x="3200780" y="5204422"/>
            <a:ext cx="1577975"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Use case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Collaboration</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2" name="Google Shape;372;p12"/>
          <p:cNvSpPr/>
          <p:nvPr/>
        </p:nvSpPr>
        <p:spPr>
          <a:xfrm rot="-5400000" flipH="1">
            <a:off x="4546150" y="3748644"/>
            <a:ext cx="429768" cy="304800"/>
          </a:xfrm>
          <a:prstGeom prst="lef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373" name="Google Shape;373;p12"/>
          <p:cNvSpPr/>
          <p:nvPr/>
        </p:nvSpPr>
        <p:spPr>
          <a:xfrm rot="-5400000" flipH="1">
            <a:off x="7695794" y="3752204"/>
            <a:ext cx="274320" cy="304800"/>
          </a:xfrm>
          <a:prstGeom prst="lef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374" name="Google Shape;374;p12"/>
          <p:cNvSpPr/>
          <p:nvPr/>
        </p:nvSpPr>
        <p:spPr>
          <a:xfrm rot="-5400000" flipH="1">
            <a:off x="9995788" y="3605199"/>
            <a:ext cx="274320" cy="304800"/>
          </a:xfrm>
          <a:prstGeom prst="lef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375" name="Google Shape;375;p12"/>
          <p:cNvSpPr/>
          <p:nvPr/>
        </p:nvSpPr>
        <p:spPr>
          <a:xfrm>
            <a:off x="1622306" y="4102661"/>
            <a:ext cx="3699935" cy="1841605"/>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Calibri"/>
                <a:ea typeface="Calibri"/>
                <a:cs typeface="Calibri"/>
                <a:sym typeface="Calibri"/>
              </a:rPr>
              <a:t>Things are abstractions in the model.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Calibri"/>
                <a:ea typeface="Calibri"/>
                <a:cs typeface="Calibri"/>
                <a:sym typeface="Calibri"/>
              </a:rPr>
              <a:t>There are four kinds of things or abstraction</a:t>
            </a:r>
            <a:endParaRPr sz="1400" b="0" i="0" u="none" strike="noStrike" cap="none">
              <a:solidFill>
                <a:srgbClr val="000000"/>
              </a:solidFill>
              <a:latin typeface="Arial"/>
              <a:ea typeface="Arial"/>
              <a:cs typeface="Arial"/>
              <a:sym typeface="Arial"/>
            </a:endParaRPr>
          </a:p>
        </p:txBody>
      </p:sp>
      <p:sp>
        <p:nvSpPr>
          <p:cNvPr id="376" name="Google Shape;376;p12"/>
          <p:cNvSpPr/>
          <p:nvPr/>
        </p:nvSpPr>
        <p:spPr>
          <a:xfrm>
            <a:off x="9023713" y="3909828"/>
            <a:ext cx="2289920" cy="2931676"/>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Diagrams : Graphical representation of set of elements, often rendered as a set of connected graph of vertices (things) and arcs (relationships)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It’s a projection into the system</a:t>
            </a:r>
            <a:endParaRPr sz="1400" b="0" i="0" u="none" strike="noStrike" cap="none">
              <a:solidFill>
                <a:srgbClr val="000000"/>
              </a:solidFill>
              <a:latin typeface="Arial"/>
              <a:ea typeface="Arial"/>
              <a:cs typeface="Arial"/>
              <a:sym typeface="Arial"/>
            </a:endParaRPr>
          </a:p>
        </p:txBody>
      </p:sp>
      <p:sp>
        <p:nvSpPr>
          <p:cNvPr id="377" name="Google Shape;377;p12"/>
          <p:cNvSpPr/>
          <p:nvPr/>
        </p:nvSpPr>
        <p:spPr>
          <a:xfrm>
            <a:off x="5681831" y="4061710"/>
            <a:ext cx="3121604" cy="217336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182880" marR="0" lvl="0" indent="-182880" algn="l" rtl="0">
              <a:lnSpc>
                <a:spcPct val="100000"/>
              </a:lnSpc>
              <a:spcBef>
                <a:spcPts val="0"/>
              </a:spcBef>
              <a:spcAft>
                <a:spcPts val="0"/>
              </a:spcAft>
              <a:buClr>
                <a:srgbClr val="0070C0"/>
              </a:buClr>
              <a:buSzPts val="2400"/>
              <a:buFont typeface="Noto Sans Symbols"/>
              <a:buChar char="▪"/>
            </a:pPr>
            <a:r>
              <a:rPr lang="en-US" sz="2200" b="1" i="0" u="none" strike="noStrike" cap="none">
                <a:solidFill>
                  <a:schemeClr val="lt1"/>
                </a:solidFill>
                <a:latin typeface="Calibri"/>
                <a:ea typeface="Calibri"/>
                <a:cs typeface="Calibri"/>
                <a:sym typeface="Calibri"/>
              </a:rPr>
              <a:t>Relationship ties together the things or abstractions</a:t>
            </a:r>
            <a:endParaRPr sz="2200" b="0" i="0" u="none" strike="noStrike" cap="none">
              <a:solidFill>
                <a:srgbClr val="000000"/>
              </a:solidFill>
              <a:latin typeface="Arial"/>
              <a:ea typeface="Arial"/>
              <a:cs typeface="Arial"/>
              <a:sym typeface="Arial"/>
            </a:endParaRPr>
          </a:p>
          <a:p>
            <a:pPr marL="182880" marR="0" lvl="0" indent="-182880" algn="l" rtl="0">
              <a:lnSpc>
                <a:spcPct val="100000"/>
              </a:lnSpc>
              <a:spcBef>
                <a:spcPts val="600"/>
              </a:spcBef>
              <a:spcAft>
                <a:spcPts val="0"/>
              </a:spcAft>
              <a:buClr>
                <a:srgbClr val="0070C0"/>
              </a:buClr>
              <a:buSzPts val="2400"/>
              <a:buFont typeface="Noto Sans Symbols"/>
              <a:buChar char="▪"/>
            </a:pPr>
            <a:r>
              <a:rPr lang="en-US" sz="2200" b="1" i="0" u="none" strike="noStrike" cap="none">
                <a:solidFill>
                  <a:schemeClr val="lt1"/>
                </a:solidFill>
                <a:latin typeface="Calibri"/>
                <a:ea typeface="Calibri"/>
                <a:cs typeface="Calibri"/>
                <a:sym typeface="Calibri"/>
              </a:rPr>
              <a:t>There are four different kinds of relationships</a:t>
            </a:r>
            <a:endParaRPr sz="22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1"/>
                                          </p:stCondLst>
                                        </p:cTn>
                                        <p:tgtEl>
                                          <p:spTgt spid="37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1"/>
                                          </p:stCondLst>
                                        </p:cTn>
                                        <p:tgtEl>
                                          <p:spTgt spid="37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1"/>
                                          </p:stCondLst>
                                        </p:cTn>
                                        <p:tgtEl>
                                          <p:spTgt spid="37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1"/>
                                          </p:stCondLst>
                                        </p:cTn>
                                        <p:tgtEl>
                                          <p:spTgt spid="37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1"/>
                                          </p:stCondLst>
                                        </p:cTn>
                                        <p:tgtEl>
                                          <p:spTgt spid="37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1"/>
                                          </p:stCondLst>
                                        </p:cTn>
                                        <p:tgtEl>
                                          <p:spTgt spid="3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13"/>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85" name="Google Shape;385;p13"/>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UML Diagrams</a:t>
            </a:r>
            <a:endParaRPr sz="2000" b="1" i="0" u="none" strike="noStrike" cap="none">
              <a:solidFill>
                <a:srgbClr val="C55A11"/>
              </a:solidFill>
              <a:latin typeface="Calibri"/>
              <a:ea typeface="Calibri"/>
              <a:cs typeface="Calibri"/>
              <a:sym typeface="Calibri"/>
            </a:endParaRPr>
          </a:p>
        </p:txBody>
      </p:sp>
      <p:pic>
        <p:nvPicPr>
          <p:cNvPr id="387" name="Google Shape;387;p13"/>
          <p:cNvPicPr preferRelativeResize="0"/>
          <p:nvPr/>
        </p:nvPicPr>
        <p:blipFill rotWithShape="1">
          <a:blip r:embed="rId3">
            <a:alphaModFix/>
          </a:blip>
          <a:srcRect/>
          <a:stretch/>
        </p:blipFill>
        <p:spPr>
          <a:xfrm>
            <a:off x="1752600" y="1676400"/>
            <a:ext cx="7848480" cy="4190880"/>
          </a:xfrm>
          <a:prstGeom prst="rect">
            <a:avLst/>
          </a:prstGeom>
          <a:noFill/>
          <a:ln>
            <a:noFill/>
          </a:ln>
        </p:spPr>
      </p:pic>
      <p:sp>
        <p:nvSpPr>
          <p:cNvPr id="388" name="Google Shape;388;p13"/>
          <p:cNvSpPr/>
          <p:nvPr/>
        </p:nvSpPr>
        <p:spPr>
          <a:xfrm>
            <a:off x="416169" y="1676400"/>
            <a:ext cx="2672862" cy="1459523"/>
          </a:xfrm>
          <a:prstGeom prst="wedgeRoundRectCallout">
            <a:avLst>
              <a:gd name="adj1" fmla="val 67625"/>
              <a:gd name="adj2" fmla="val 30415"/>
              <a:gd name="adj3" fmla="val 16667"/>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Structural things are the nouns of the UML models. Represent elements that are either conceptual or physical</a:t>
            </a:r>
            <a:endParaRPr sz="1400" b="0" i="0" u="none" strike="noStrike" cap="none">
              <a:solidFill>
                <a:srgbClr val="000000"/>
              </a:solidFill>
              <a:latin typeface="Arial"/>
              <a:ea typeface="Arial"/>
              <a:cs typeface="Arial"/>
              <a:sym typeface="Arial"/>
            </a:endParaRPr>
          </a:p>
        </p:txBody>
      </p:sp>
      <p:sp>
        <p:nvSpPr>
          <p:cNvPr id="389" name="Google Shape;389;p13"/>
          <p:cNvSpPr/>
          <p:nvPr/>
        </p:nvSpPr>
        <p:spPr>
          <a:xfrm>
            <a:off x="9195581" y="1676399"/>
            <a:ext cx="2818227" cy="1459523"/>
          </a:xfrm>
          <a:prstGeom prst="wedgeRoundRectCallout">
            <a:avLst>
              <a:gd name="adj1" fmla="val -79852"/>
              <a:gd name="adj2" fmla="val 29451"/>
              <a:gd name="adj3" fmla="val 16667"/>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These are dynamic parts of the UML models. Represent behavior over time and space. Typically verbs of the model</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38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
                                          </p:stCondLst>
                                        </p:cTn>
                                        <p:tgtEl>
                                          <p:spTgt spid="3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4"/>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7" name="Google Shape;397;p14"/>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Models in Solution Development</a:t>
            </a:r>
            <a:endParaRPr sz="2000" b="1" i="0" u="none" strike="noStrike" cap="none">
              <a:solidFill>
                <a:srgbClr val="C55A11"/>
              </a:solidFill>
              <a:latin typeface="Calibri"/>
              <a:ea typeface="Calibri"/>
              <a:cs typeface="Calibri"/>
              <a:sym typeface="Calibri"/>
            </a:endParaRPr>
          </a:p>
        </p:txBody>
      </p:sp>
      <p:grpSp>
        <p:nvGrpSpPr>
          <p:cNvPr id="399" name="Google Shape;399;p14"/>
          <p:cNvGrpSpPr/>
          <p:nvPr/>
        </p:nvGrpSpPr>
        <p:grpSpPr>
          <a:xfrm>
            <a:off x="583095" y="1623392"/>
            <a:ext cx="7620000" cy="4953794"/>
            <a:chOff x="609600" y="1143000"/>
            <a:chExt cx="7620000" cy="4953794"/>
          </a:xfrm>
        </p:grpSpPr>
        <p:sp>
          <p:nvSpPr>
            <p:cNvPr id="400" name="Google Shape;400;p14"/>
            <p:cNvSpPr/>
            <p:nvPr/>
          </p:nvSpPr>
          <p:spPr>
            <a:xfrm>
              <a:off x="838200" y="1295400"/>
              <a:ext cx="2819400" cy="1479766"/>
            </a:xfrm>
            <a:custGeom>
              <a:avLst/>
              <a:gdLst/>
              <a:ahLst/>
              <a:cxnLst/>
              <a:rect l="l" t="t" r="r" b="b"/>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CB8CA"/>
            </a:solidFill>
            <a:ln w="9525" cap="flat" cmpd="sng">
              <a:solidFill>
                <a:srgbClr val="000000"/>
              </a:solidFill>
              <a:prstDash val="solid"/>
              <a:miter lim="800000"/>
              <a:headEnd type="none" w="sm" len="sm"/>
              <a:tailEnd type="none" w="sm" len="sm"/>
            </a:ln>
            <a:effectLst>
              <a:outerShdw dist="107763" dir="2700000" algn="ctr" rotWithShape="0">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Problem</a:t>
              </a:r>
              <a:endParaRPr sz="1800" b="1" i="0" u="none" strike="noStrike" cap="none">
                <a:solidFill>
                  <a:schemeClr val="dk1"/>
                </a:solidFill>
                <a:latin typeface="Calibri"/>
                <a:ea typeface="Calibri"/>
                <a:cs typeface="Calibri"/>
                <a:sym typeface="Calibri"/>
              </a:endParaRPr>
            </a:p>
          </p:txBody>
        </p:sp>
        <p:sp>
          <p:nvSpPr>
            <p:cNvPr id="401" name="Google Shape;401;p14"/>
            <p:cNvSpPr txBox="1"/>
            <p:nvPr/>
          </p:nvSpPr>
          <p:spPr>
            <a:xfrm>
              <a:off x="5257800" y="1371600"/>
              <a:ext cx="2667000" cy="1295400"/>
            </a:xfrm>
            <a:prstGeom prst="rect">
              <a:avLst/>
            </a:prstGeom>
            <a:solidFill>
              <a:srgbClr val="ACB8CA"/>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Solution</a:t>
              </a:r>
              <a:endParaRPr sz="3200" b="1" i="0" u="none" strike="noStrike" cap="none">
                <a:solidFill>
                  <a:schemeClr val="dk1"/>
                </a:solidFill>
                <a:latin typeface="Calibri"/>
                <a:ea typeface="Calibri"/>
                <a:cs typeface="Calibri"/>
                <a:sym typeface="Calibri"/>
              </a:endParaRPr>
            </a:p>
          </p:txBody>
        </p:sp>
        <p:sp>
          <p:nvSpPr>
            <p:cNvPr id="402" name="Google Shape;402;p14"/>
            <p:cNvSpPr/>
            <p:nvPr/>
          </p:nvSpPr>
          <p:spPr>
            <a:xfrm>
              <a:off x="609600" y="3962400"/>
              <a:ext cx="3276600" cy="1143000"/>
            </a:xfrm>
            <a:prstGeom prst="ellipse">
              <a:avLst/>
            </a:prstGeom>
            <a:solidFill>
              <a:srgbClr val="ACB8CA"/>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Analysis Model</a:t>
              </a:r>
              <a:endParaRPr sz="2800" b="1" i="0" u="none" strike="noStrike" cap="none">
                <a:solidFill>
                  <a:schemeClr val="dk1"/>
                </a:solidFill>
                <a:latin typeface="Calibri"/>
                <a:ea typeface="Calibri"/>
                <a:cs typeface="Calibri"/>
                <a:sym typeface="Calibri"/>
              </a:endParaRPr>
            </a:p>
          </p:txBody>
        </p:sp>
        <p:sp>
          <p:nvSpPr>
            <p:cNvPr id="403" name="Google Shape;403;p14"/>
            <p:cNvSpPr/>
            <p:nvPr/>
          </p:nvSpPr>
          <p:spPr>
            <a:xfrm>
              <a:off x="4953000" y="3962400"/>
              <a:ext cx="3276600" cy="1143000"/>
            </a:xfrm>
            <a:prstGeom prst="ellipse">
              <a:avLst/>
            </a:prstGeom>
            <a:solidFill>
              <a:srgbClr val="ACB8CA"/>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Design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Model</a:t>
              </a:r>
              <a:endParaRPr sz="2800" b="1" i="0" u="none" strike="noStrike" cap="none">
                <a:solidFill>
                  <a:schemeClr val="dk1"/>
                </a:solidFill>
                <a:latin typeface="Calibri"/>
                <a:ea typeface="Calibri"/>
                <a:cs typeface="Calibri"/>
                <a:sym typeface="Calibri"/>
              </a:endParaRPr>
            </a:p>
          </p:txBody>
        </p:sp>
        <p:cxnSp>
          <p:nvCxnSpPr>
            <p:cNvPr id="404" name="Google Shape;404;p14"/>
            <p:cNvCxnSpPr/>
            <p:nvPr/>
          </p:nvCxnSpPr>
          <p:spPr>
            <a:xfrm>
              <a:off x="2247106" y="2773590"/>
              <a:ext cx="1588" cy="1188810"/>
            </a:xfrm>
            <a:prstGeom prst="straightConnector1">
              <a:avLst/>
            </a:prstGeom>
            <a:noFill/>
            <a:ln w="50800" cap="flat" cmpd="sng">
              <a:solidFill>
                <a:schemeClr val="dk1"/>
              </a:solidFill>
              <a:prstDash val="solid"/>
              <a:miter lim="800000"/>
              <a:headEnd type="none" w="sm" len="sm"/>
              <a:tailEnd type="stealth" w="med" len="med"/>
            </a:ln>
          </p:spPr>
        </p:cxnSp>
        <p:cxnSp>
          <p:nvCxnSpPr>
            <p:cNvPr id="405" name="Google Shape;405;p14"/>
            <p:cNvCxnSpPr/>
            <p:nvPr/>
          </p:nvCxnSpPr>
          <p:spPr>
            <a:xfrm>
              <a:off x="3886200" y="4533106"/>
              <a:ext cx="1066800" cy="1588"/>
            </a:xfrm>
            <a:prstGeom prst="straightConnector1">
              <a:avLst/>
            </a:prstGeom>
            <a:noFill/>
            <a:ln w="50800" cap="flat" cmpd="sng">
              <a:solidFill>
                <a:schemeClr val="dk1"/>
              </a:solidFill>
              <a:prstDash val="solid"/>
              <a:miter lim="800000"/>
              <a:headEnd type="none" w="sm" len="sm"/>
              <a:tailEnd type="stealth" w="med" len="med"/>
            </a:ln>
          </p:spPr>
        </p:cxnSp>
        <p:cxnSp>
          <p:nvCxnSpPr>
            <p:cNvPr id="406" name="Google Shape;406;p14"/>
            <p:cNvCxnSpPr>
              <a:stCxn id="403" idx="0"/>
              <a:endCxn id="401" idx="2"/>
            </p:cNvCxnSpPr>
            <p:nvPr/>
          </p:nvCxnSpPr>
          <p:spPr>
            <a:xfrm rot="10800000">
              <a:off x="6591300" y="2667000"/>
              <a:ext cx="0" cy="1295400"/>
            </a:xfrm>
            <a:prstGeom prst="straightConnector1">
              <a:avLst/>
            </a:prstGeom>
            <a:noFill/>
            <a:ln w="50800" cap="flat" cmpd="sng">
              <a:solidFill>
                <a:schemeClr val="dk1"/>
              </a:solidFill>
              <a:prstDash val="solid"/>
              <a:miter lim="800000"/>
              <a:headEnd type="none" w="sm" len="sm"/>
              <a:tailEnd type="stealth" w="med" len="med"/>
            </a:ln>
          </p:spPr>
        </p:cxnSp>
        <p:sp>
          <p:nvSpPr>
            <p:cNvPr id="407" name="Google Shape;407;p14"/>
            <p:cNvSpPr txBox="1"/>
            <p:nvPr/>
          </p:nvSpPr>
          <p:spPr>
            <a:xfrm>
              <a:off x="1066800" y="5410200"/>
              <a:ext cx="24384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Problem Space</a:t>
              </a:r>
              <a:endParaRPr sz="1050" b="0" i="0" u="none" strike="noStrike" cap="none">
                <a:solidFill>
                  <a:schemeClr val="dk1"/>
                </a:solidFill>
                <a:latin typeface="Arial"/>
                <a:ea typeface="Arial"/>
                <a:cs typeface="Arial"/>
                <a:sym typeface="Arial"/>
              </a:endParaRPr>
            </a:p>
          </p:txBody>
        </p:sp>
        <p:sp>
          <p:nvSpPr>
            <p:cNvPr id="408" name="Google Shape;408;p14"/>
            <p:cNvSpPr txBox="1"/>
            <p:nvPr/>
          </p:nvSpPr>
          <p:spPr>
            <a:xfrm>
              <a:off x="5410200" y="5410200"/>
              <a:ext cx="24384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Solution Space</a:t>
              </a:r>
              <a:endParaRPr sz="1050" b="0" i="0" u="none" strike="noStrike" cap="none">
                <a:solidFill>
                  <a:schemeClr val="dk1"/>
                </a:solidFill>
                <a:latin typeface="Arial"/>
                <a:ea typeface="Arial"/>
                <a:cs typeface="Arial"/>
                <a:sym typeface="Arial"/>
              </a:endParaRPr>
            </a:p>
          </p:txBody>
        </p:sp>
        <p:cxnSp>
          <p:nvCxnSpPr>
            <p:cNvPr id="409" name="Google Shape;409;p14"/>
            <p:cNvCxnSpPr/>
            <p:nvPr/>
          </p:nvCxnSpPr>
          <p:spPr>
            <a:xfrm rot="5400000">
              <a:off x="1942306" y="3619500"/>
              <a:ext cx="4953794" cy="794"/>
            </a:xfrm>
            <a:prstGeom prst="straightConnector1">
              <a:avLst/>
            </a:prstGeom>
            <a:noFill/>
            <a:ln w="25400" cap="flat" cmpd="sng">
              <a:solidFill>
                <a:schemeClr val="accent1"/>
              </a:solidFill>
              <a:prstDash val="dash"/>
              <a:miter lim="800000"/>
              <a:headEnd type="none" w="sm" len="sm"/>
              <a:tailEnd type="none" w="sm" len="sm"/>
            </a:ln>
          </p:spPr>
        </p:cxnSp>
      </p:gr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5"/>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7" name="Google Shape;417;p15"/>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Views of a Solution System</a:t>
            </a:r>
            <a:endParaRPr sz="2000" b="1" i="0" u="none" strike="noStrike" cap="none">
              <a:solidFill>
                <a:srgbClr val="C55A11"/>
              </a:solidFill>
              <a:latin typeface="Calibri"/>
              <a:ea typeface="Calibri"/>
              <a:cs typeface="Calibri"/>
              <a:sym typeface="Calibri"/>
            </a:endParaRPr>
          </a:p>
        </p:txBody>
      </p:sp>
      <p:grpSp>
        <p:nvGrpSpPr>
          <p:cNvPr id="419" name="Google Shape;419;p15"/>
          <p:cNvGrpSpPr/>
          <p:nvPr/>
        </p:nvGrpSpPr>
        <p:grpSpPr>
          <a:xfrm>
            <a:off x="1199210" y="1901770"/>
            <a:ext cx="7619760" cy="4343040"/>
            <a:chOff x="685800" y="1447920"/>
            <a:chExt cx="7619760" cy="4343040"/>
          </a:xfrm>
        </p:grpSpPr>
        <p:sp>
          <p:nvSpPr>
            <p:cNvPr id="420" name="Google Shape;420;p15"/>
            <p:cNvSpPr/>
            <p:nvPr/>
          </p:nvSpPr>
          <p:spPr>
            <a:xfrm>
              <a:off x="685800" y="1447920"/>
              <a:ext cx="3428640" cy="1828440"/>
            </a:xfrm>
            <a:prstGeom prst="rect">
              <a:avLst/>
            </a:prstGeom>
            <a:solidFill>
              <a:srgbClr val="B3C6E7"/>
            </a:solidFill>
            <a:ln w="9525" cap="flat" cmpd="sng">
              <a:solidFill>
                <a:schemeClr val="dk1"/>
              </a:solidFill>
              <a:prstDash val="solid"/>
              <a:miter lim="800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Design View</a:t>
              </a:r>
              <a:endParaRPr sz="1800" b="0" i="0" u="none" strike="noStrike" cap="none">
                <a:solidFill>
                  <a:schemeClr val="dk1"/>
                </a:solidFill>
                <a:latin typeface="Calibri"/>
                <a:ea typeface="Calibri"/>
                <a:cs typeface="Calibri"/>
                <a:sym typeface="Calibri"/>
              </a:endParaRPr>
            </a:p>
          </p:txBody>
        </p:sp>
        <p:sp>
          <p:nvSpPr>
            <p:cNvPr id="421" name="Google Shape;421;p15"/>
            <p:cNvSpPr/>
            <p:nvPr/>
          </p:nvSpPr>
          <p:spPr>
            <a:xfrm>
              <a:off x="4876920" y="1447920"/>
              <a:ext cx="3428640" cy="1828440"/>
            </a:xfrm>
            <a:prstGeom prst="rect">
              <a:avLst/>
            </a:prstGeom>
            <a:solidFill>
              <a:srgbClr val="B3C6E7"/>
            </a:solidFill>
            <a:ln w="9525" cap="flat" cmpd="sng">
              <a:solidFill>
                <a:srgbClr val="00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Implementation View</a:t>
              </a:r>
              <a:endParaRPr sz="1800" b="0" i="0" u="none" strike="noStrike" cap="none">
                <a:solidFill>
                  <a:schemeClr val="dk1"/>
                </a:solidFill>
                <a:latin typeface="Calibri"/>
                <a:ea typeface="Calibri"/>
                <a:cs typeface="Calibri"/>
                <a:sym typeface="Calibri"/>
              </a:endParaRPr>
            </a:p>
          </p:txBody>
        </p:sp>
        <p:sp>
          <p:nvSpPr>
            <p:cNvPr id="422" name="Google Shape;422;p15"/>
            <p:cNvSpPr/>
            <p:nvPr/>
          </p:nvSpPr>
          <p:spPr>
            <a:xfrm>
              <a:off x="4876920" y="3962520"/>
              <a:ext cx="3428640" cy="1828440"/>
            </a:xfrm>
            <a:prstGeom prst="rect">
              <a:avLst/>
            </a:prstGeom>
            <a:solidFill>
              <a:srgbClr val="B3C6E7"/>
            </a:solidFill>
            <a:ln w="9525" cap="flat" cmpd="sng">
              <a:solidFill>
                <a:srgbClr val="00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Deployment View</a:t>
              </a:r>
              <a:endParaRPr sz="1800" b="0" i="0" u="none" strike="noStrike" cap="none">
                <a:solidFill>
                  <a:schemeClr val="dk1"/>
                </a:solidFill>
                <a:latin typeface="Calibri"/>
                <a:ea typeface="Calibri"/>
                <a:cs typeface="Calibri"/>
                <a:sym typeface="Calibri"/>
              </a:endParaRPr>
            </a:p>
          </p:txBody>
        </p:sp>
        <p:sp>
          <p:nvSpPr>
            <p:cNvPr id="423" name="Google Shape;423;p15"/>
            <p:cNvSpPr/>
            <p:nvPr/>
          </p:nvSpPr>
          <p:spPr>
            <a:xfrm>
              <a:off x="685800" y="3962520"/>
              <a:ext cx="3428640" cy="1828440"/>
            </a:xfrm>
            <a:prstGeom prst="rect">
              <a:avLst/>
            </a:prstGeom>
            <a:solidFill>
              <a:srgbClr val="B3C6E7"/>
            </a:solidFill>
            <a:ln w="9525" cap="flat" cmpd="sng">
              <a:solidFill>
                <a:srgbClr val="00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Interaction View</a:t>
              </a:r>
              <a:endParaRPr sz="1800" b="0" i="0" u="none" strike="noStrike" cap="none">
                <a:solidFill>
                  <a:schemeClr val="dk1"/>
                </a:solidFill>
                <a:latin typeface="Calibri"/>
                <a:ea typeface="Calibri"/>
                <a:cs typeface="Calibri"/>
                <a:sym typeface="Calibri"/>
              </a:endParaRPr>
            </a:p>
          </p:txBody>
        </p:sp>
        <p:sp>
          <p:nvSpPr>
            <p:cNvPr id="424" name="Google Shape;424;p15"/>
            <p:cNvSpPr/>
            <p:nvPr/>
          </p:nvSpPr>
          <p:spPr>
            <a:xfrm>
              <a:off x="2971800" y="2895480"/>
              <a:ext cx="2971440" cy="1447560"/>
            </a:xfrm>
            <a:prstGeom prst="rect">
              <a:avLst/>
            </a:prstGeom>
            <a:solidFill>
              <a:srgbClr val="8DA9DB"/>
            </a:solidFill>
            <a:ln w="15825" cap="flat" cmpd="sng">
              <a:solidFill>
                <a:srgbClr val="00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Use Case View</a:t>
              </a:r>
              <a:endParaRPr sz="1800" b="0" i="0" u="none" strike="noStrike" cap="none">
                <a:solidFill>
                  <a:schemeClr val="dk1"/>
                </a:solidFill>
                <a:latin typeface="Calibri"/>
                <a:ea typeface="Calibri"/>
                <a:cs typeface="Calibri"/>
                <a:sym typeface="Calibri"/>
              </a:endParaRPr>
            </a:p>
          </p:txBody>
        </p:sp>
      </p:gr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16"/>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32" name="Google Shape;432;p16"/>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Views of a Solution System</a:t>
            </a:r>
            <a:endParaRPr sz="2000" b="1" i="0" u="none" strike="noStrike" cap="none">
              <a:solidFill>
                <a:srgbClr val="C55A11"/>
              </a:solidFill>
              <a:latin typeface="Calibri"/>
              <a:ea typeface="Calibri"/>
              <a:cs typeface="Calibri"/>
              <a:sym typeface="Calibri"/>
            </a:endParaRPr>
          </a:p>
        </p:txBody>
      </p:sp>
      <p:sp>
        <p:nvSpPr>
          <p:cNvPr id="434" name="Google Shape;434;p16"/>
          <p:cNvSpPr txBox="1"/>
          <p:nvPr/>
        </p:nvSpPr>
        <p:spPr>
          <a:xfrm>
            <a:off x="364435" y="1566055"/>
            <a:ext cx="8229240" cy="4525560"/>
          </a:xfrm>
          <a:prstGeom prst="rect">
            <a:avLst/>
          </a:prstGeom>
          <a:noFill/>
          <a:ln>
            <a:noFill/>
          </a:ln>
        </p:spPr>
        <p:txBody>
          <a:bodyPr spcFirstLastPara="1" wrap="square" lIns="91425" tIns="45700" rIns="91425" bIns="45700" anchor="t" anchorCtr="0">
            <a:noAutofit/>
          </a:bodyPr>
          <a:lstStyle/>
          <a:p>
            <a:pPr marL="357188" marR="0" lvl="0" indent="-268288" algn="l" rtl="0">
              <a:lnSpc>
                <a:spcPct val="10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Lucida Sans"/>
                <a:ea typeface="Lucida Sans"/>
                <a:cs typeface="Lucida Sans"/>
                <a:sym typeface="Lucida Sans"/>
              </a:rPr>
              <a:t>Use Case View</a:t>
            </a:r>
            <a:endParaRPr sz="1800" b="0" i="0" u="none" strike="noStrike" cap="none">
              <a:solidFill>
                <a:schemeClr val="dk1"/>
              </a:solidFill>
              <a:latin typeface="Calibri"/>
              <a:ea typeface="Calibri"/>
              <a:cs typeface="Calibri"/>
              <a:sym typeface="Calibri"/>
            </a:endParaRPr>
          </a:p>
          <a:p>
            <a:pPr marL="714375" marR="0" lvl="1" indent="-257175" algn="l" rtl="0">
              <a:lnSpc>
                <a:spcPct val="100000"/>
              </a:lnSpc>
              <a:spcBef>
                <a:spcPts val="0"/>
              </a:spcBef>
              <a:spcAft>
                <a:spcPts val="0"/>
              </a:spcAft>
              <a:buClr>
                <a:srgbClr val="00B0F0"/>
              </a:buClr>
              <a:buSzPts val="2300"/>
              <a:buFont typeface="Verdana"/>
              <a:buChar char="◦"/>
            </a:pPr>
            <a:r>
              <a:rPr lang="en-US" sz="2300" b="0" i="0" u="none" strike="noStrike" cap="none">
                <a:solidFill>
                  <a:srgbClr val="000000"/>
                </a:solidFill>
                <a:latin typeface="Lucida Sans"/>
                <a:ea typeface="Lucida Sans"/>
                <a:cs typeface="Lucida Sans"/>
                <a:sym typeface="Lucida Sans"/>
              </a:rPr>
              <a:t>Describes behavior of system as seen by end users, analysts, and testers</a:t>
            </a:r>
            <a:endParaRPr sz="1800" b="0" i="0" u="none" strike="noStrike" cap="none">
              <a:solidFill>
                <a:schemeClr val="dk1"/>
              </a:solidFill>
              <a:latin typeface="Calibri"/>
              <a:ea typeface="Calibri"/>
              <a:cs typeface="Calibri"/>
              <a:sym typeface="Calibri"/>
            </a:endParaRPr>
          </a:p>
          <a:p>
            <a:pPr marL="357188" marR="0" lvl="0" indent="-151702" algn="l" rtl="0">
              <a:lnSpc>
                <a:spcPct val="100000"/>
              </a:lnSpc>
              <a:spcBef>
                <a:spcPts val="0"/>
              </a:spcBef>
              <a:spcAft>
                <a:spcPts val="0"/>
              </a:spcAft>
              <a:buClr>
                <a:srgbClr val="00B0F0"/>
              </a:buClr>
              <a:buSzPts val="1836"/>
              <a:buFont typeface="Noto Sans Symbols"/>
              <a:buNone/>
            </a:pPr>
            <a:endParaRPr sz="2700" b="0" i="0" u="none" strike="noStrike" cap="none">
              <a:solidFill>
                <a:srgbClr val="000000"/>
              </a:solidFill>
              <a:latin typeface="Lucida Sans"/>
              <a:ea typeface="Lucida Sans"/>
              <a:cs typeface="Lucida Sans"/>
              <a:sym typeface="Lucida Sans"/>
            </a:endParaRPr>
          </a:p>
          <a:p>
            <a:pPr marL="357188" marR="0" lvl="0" indent="-268288" algn="l" rtl="0">
              <a:lnSpc>
                <a:spcPct val="10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Lucida Sans"/>
                <a:ea typeface="Lucida Sans"/>
                <a:cs typeface="Lucida Sans"/>
                <a:sym typeface="Lucida Sans"/>
              </a:rPr>
              <a:t>Design View</a:t>
            </a:r>
            <a:endParaRPr sz="2700" b="0" i="0" u="none" strike="noStrike" cap="none">
              <a:solidFill>
                <a:srgbClr val="000000"/>
              </a:solidFill>
              <a:latin typeface="Lucida Sans"/>
              <a:ea typeface="Lucida Sans"/>
              <a:cs typeface="Lucida Sans"/>
              <a:sym typeface="Lucida Sans"/>
            </a:endParaRPr>
          </a:p>
          <a:p>
            <a:pPr marL="714375" marR="0" lvl="1" indent="-257175" algn="l" rtl="0">
              <a:lnSpc>
                <a:spcPct val="100000"/>
              </a:lnSpc>
              <a:spcBef>
                <a:spcPts val="0"/>
              </a:spcBef>
              <a:spcAft>
                <a:spcPts val="0"/>
              </a:spcAft>
              <a:buClr>
                <a:srgbClr val="00B0F0"/>
              </a:buClr>
              <a:buSzPts val="2300"/>
              <a:buFont typeface="Verdana"/>
              <a:buChar char="◦"/>
            </a:pPr>
            <a:r>
              <a:rPr lang="en-US" sz="2300" b="0" i="0" u="none" strike="noStrike" cap="none">
                <a:solidFill>
                  <a:srgbClr val="000000"/>
                </a:solidFill>
                <a:latin typeface="Lucida Sans"/>
                <a:ea typeface="Lucida Sans"/>
                <a:cs typeface="Lucida Sans"/>
                <a:sym typeface="Lucida Sans"/>
              </a:rPr>
              <a:t>Describes Classes, Interfaces, and Collaborations that form the vocabulary of the problem and its solution</a:t>
            </a:r>
            <a:endParaRPr sz="2300" b="0" i="0" u="none" strike="noStrike" cap="none">
              <a:solidFill>
                <a:srgbClr val="000000"/>
              </a:solidFill>
              <a:latin typeface="Lucida Sans"/>
              <a:ea typeface="Lucida Sans"/>
              <a:cs typeface="Lucida Sans"/>
              <a:sym typeface="Lucida Sans"/>
            </a:endParaRPr>
          </a:p>
          <a:p>
            <a:pPr marL="357188" marR="0" lvl="0" indent="-151702" algn="l" rtl="0">
              <a:lnSpc>
                <a:spcPct val="100000"/>
              </a:lnSpc>
              <a:spcBef>
                <a:spcPts val="0"/>
              </a:spcBef>
              <a:spcAft>
                <a:spcPts val="0"/>
              </a:spcAft>
              <a:buClr>
                <a:srgbClr val="00B0F0"/>
              </a:buClr>
              <a:buSzPts val="1836"/>
              <a:buFont typeface="Noto Sans Symbols"/>
              <a:buNone/>
            </a:pPr>
            <a:endParaRPr sz="2700" b="0" i="0" u="none" strike="noStrike" cap="none">
              <a:solidFill>
                <a:srgbClr val="000000"/>
              </a:solidFill>
              <a:latin typeface="Lucida Sans"/>
              <a:ea typeface="Lucida Sans"/>
              <a:cs typeface="Lucida Sans"/>
              <a:sym typeface="Lucida Sans"/>
            </a:endParaRPr>
          </a:p>
          <a:p>
            <a:pPr marL="357188" marR="0" lvl="0" indent="-268288" algn="l" rtl="0">
              <a:lnSpc>
                <a:spcPct val="10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Lucida Sans"/>
                <a:ea typeface="Lucida Sans"/>
                <a:cs typeface="Lucida Sans"/>
                <a:sym typeface="Lucida Sans"/>
              </a:rPr>
              <a:t>Interaction View</a:t>
            </a:r>
            <a:endParaRPr sz="2700" b="0" i="0" u="none" strike="noStrike" cap="none">
              <a:solidFill>
                <a:srgbClr val="000000"/>
              </a:solidFill>
              <a:latin typeface="Lucida Sans"/>
              <a:ea typeface="Lucida Sans"/>
              <a:cs typeface="Lucida Sans"/>
              <a:sym typeface="Lucida Sans"/>
            </a:endParaRPr>
          </a:p>
          <a:p>
            <a:pPr marL="714375" marR="0" lvl="1" indent="-257175" algn="l" rtl="0">
              <a:lnSpc>
                <a:spcPct val="100000"/>
              </a:lnSpc>
              <a:spcBef>
                <a:spcPts val="0"/>
              </a:spcBef>
              <a:spcAft>
                <a:spcPts val="0"/>
              </a:spcAft>
              <a:buClr>
                <a:srgbClr val="00B0F0"/>
              </a:buClr>
              <a:buSzPts val="2300"/>
              <a:buFont typeface="Verdana"/>
              <a:buChar char="◦"/>
            </a:pPr>
            <a:r>
              <a:rPr lang="en-US" sz="2300" b="0" i="0" u="none" strike="noStrike" cap="none">
                <a:solidFill>
                  <a:srgbClr val="000000"/>
                </a:solidFill>
                <a:latin typeface="Lucida Sans"/>
                <a:ea typeface="Lucida Sans"/>
                <a:cs typeface="Lucida Sans"/>
                <a:sym typeface="Lucida Sans"/>
              </a:rPr>
              <a:t>Describes flow of control among its various parts</a:t>
            </a:r>
            <a:endParaRPr sz="2300" b="0" i="0" u="none" strike="noStrike" cap="none">
              <a:solidFill>
                <a:srgbClr val="000000"/>
              </a:solidFill>
              <a:latin typeface="Lucida Sans"/>
              <a:ea typeface="Lucida Sans"/>
              <a:cs typeface="Lucida Sans"/>
              <a:sym typeface="Lucida Sans"/>
            </a:endParaRPr>
          </a:p>
          <a:p>
            <a:pPr marL="714375" marR="0" lvl="1" indent="-257175" algn="l" rtl="0">
              <a:lnSpc>
                <a:spcPct val="100000"/>
              </a:lnSpc>
              <a:spcBef>
                <a:spcPts val="0"/>
              </a:spcBef>
              <a:spcAft>
                <a:spcPts val="0"/>
              </a:spcAft>
              <a:buClr>
                <a:srgbClr val="00B0F0"/>
              </a:buClr>
              <a:buSzPts val="2300"/>
              <a:buFont typeface="Verdana"/>
              <a:buChar char="◦"/>
            </a:pPr>
            <a:r>
              <a:rPr lang="en-US" sz="2300" b="0" i="0" u="none" strike="noStrike" cap="none">
                <a:solidFill>
                  <a:srgbClr val="000000"/>
                </a:solidFill>
                <a:latin typeface="Lucida Sans"/>
                <a:ea typeface="Lucida Sans"/>
                <a:cs typeface="Lucida Sans"/>
                <a:sym typeface="Lucida Sans"/>
              </a:rPr>
              <a:t>Address performance, scalability, and throughput</a:t>
            </a:r>
            <a:endParaRPr sz="2300" b="0" i="0" u="none" strike="noStrike" cap="none">
              <a:solidFill>
                <a:srgbClr val="000000"/>
              </a:solidFill>
              <a:latin typeface="Lucida Sans"/>
              <a:ea typeface="Lucida Sans"/>
              <a:cs typeface="Lucida Sans"/>
              <a:sym typeface="Lucida Sans"/>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16"/>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32" name="Google Shape;432;p16"/>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Views of a Solution System</a:t>
            </a:r>
            <a:endParaRPr sz="2000" b="1" i="0" u="none" strike="noStrike" cap="none">
              <a:solidFill>
                <a:srgbClr val="C55A11"/>
              </a:solidFill>
              <a:latin typeface="Calibri"/>
              <a:ea typeface="Calibri"/>
              <a:cs typeface="Calibri"/>
              <a:sym typeface="Calibri"/>
            </a:endParaRPr>
          </a:p>
        </p:txBody>
      </p:sp>
      <p:sp>
        <p:nvSpPr>
          <p:cNvPr id="5" name="TextShape 2"/>
          <p:cNvSpPr txBox="1"/>
          <p:nvPr/>
        </p:nvSpPr>
        <p:spPr>
          <a:xfrm>
            <a:off x="457200" y="1481040"/>
            <a:ext cx="8229240" cy="4525560"/>
          </a:xfrm>
          <a:prstGeom prst="rect">
            <a:avLst/>
          </a:prstGeom>
        </p:spPr>
        <p:txBody>
          <a:bodyPr/>
          <a:lstStyle/>
          <a:p>
            <a:pPr marL="357188" indent="-268288">
              <a:lnSpc>
                <a:spcPct val="100000"/>
              </a:lnSpc>
              <a:buClr>
                <a:srgbClr val="00B0F0"/>
              </a:buClr>
              <a:buSzPct val="68000"/>
              <a:buFont typeface="Wingdings 3" charset="2"/>
              <a:buChar char=""/>
            </a:pPr>
            <a:r>
              <a:rPr lang="en-US" sz="2700" dirty="0">
                <a:solidFill>
                  <a:srgbClr val="000000"/>
                </a:solidFill>
                <a:latin typeface="Lucida Sans Unicode"/>
              </a:rPr>
              <a:t>Implementation View</a:t>
            </a:r>
            <a:endParaRPr dirty="0"/>
          </a:p>
          <a:p>
            <a:pPr marL="714375" lvl="1" indent="-257175">
              <a:lnSpc>
                <a:spcPct val="100000"/>
              </a:lnSpc>
              <a:buClr>
                <a:srgbClr val="00B0F0"/>
              </a:buClr>
              <a:buFont typeface="Verdana"/>
              <a:buChar char="◦"/>
            </a:pPr>
            <a:r>
              <a:rPr lang="en-US" sz="2300" dirty="0">
                <a:solidFill>
                  <a:srgbClr val="000000"/>
                </a:solidFill>
                <a:latin typeface="Lucida Sans Unicode"/>
              </a:rPr>
              <a:t>Describes artifacts that are used to assemble and release the physical system</a:t>
            </a:r>
            <a:endParaRPr dirty="0"/>
          </a:p>
          <a:p>
            <a:pPr marL="714375" lvl="1" indent="-257175">
              <a:buClr>
                <a:srgbClr val="00B0F0"/>
              </a:buClr>
              <a:buFont typeface="Verdana"/>
              <a:buChar char="◦"/>
            </a:pPr>
            <a:r>
              <a:rPr lang="en-US" sz="2300" dirty="0">
                <a:solidFill>
                  <a:srgbClr val="000000"/>
                </a:solidFill>
                <a:latin typeface="Lucida Sans Unicode"/>
              </a:rPr>
              <a:t>Address configuration management of system releases</a:t>
            </a:r>
            <a:endParaRPr sz="2300" dirty="0">
              <a:solidFill>
                <a:srgbClr val="000000"/>
              </a:solidFill>
              <a:latin typeface="Lucida Sans Unicode"/>
            </a:endParaRPr>
          </a:p>
          <a:p>
            <a:pPr marL="357188" indent="-268288">
              <a:buClr>
                <a:srgbClr val="00B0F0"/>
              </a:buClr>
              <a:buSzPct val="68000"/>
              <a:buFont typeface="Wingdings 3" charset="2"/>
              <a:buChar char=""/>
            </a:pPr>
            <a:endParaRPr lang="en-US" sz="2700" dirty="0" smtClean="0">
              <a:solidFill>
                <a:srgbClr val="000000"/>
              </a:solidFill>
              <a:latin typeface="Lucida Sans Unicode"/>
            </a:endParaRPr>
          </a:p>
          <a:p>
            <a:pPr marL="357188" indent="-268288">
              <a:buClr>
                <a:srgbClr val="00B0F0"/>
              </a:buClr>
              <a:buSzPct val="68000"/>
              <a:buFont typeface="Wingdings 3" charset="2"/>
              <a:buChar char=""/>
            </a:pPr>
            <a:r>
              <a:rPr lang="en-US" sz="2700" dirty="0" smtClean="0">
                <a:solidFill>
                  <a:srgbClr val="000000"/>
                </a:solidFill>
                <a:latin typeface="Lucida Sans Unicode"/>
              </a:rPr>
              <a:t>Deployment </a:t>
            </a:r>
            <a:r>
              <a:rPr lang="en-US" sz="2700" dirty="0">
                <a:solidFill>
                  <a:srgbClr val="000000"/>
                </a:solidFill>
                <a:latin typeface="Lucida Sans Unicode"/>
              </a:rPr>
              <a:t>View</a:t>
            </a:r>
            <a:endParaRPr sz="2700" dirty="0">
              <a:solidFill>
                <a:srgbClr val="000000"/>
              </a:solidFill>
              <a:latin typeface="Lucida Sans Unicode"/>
            </a:endParaRPr>
          </a:p>
          <a:p>
            <a:pPr marL="714375" lvl="1" indent="-257175">
              <a:lnSpc>
                <a:spcPct val="100000"/>
              </a:lnSpc>
              <a:buClr>
                <a:srgbClr val="00B0F0"/>
              </a:buClr>
              <a:buFont typeface="Verdana"/>
              <a:buChar char="◦"/>
            </a:pPr>
            <a:r>
              <a:rPr lang="en-US" sz="2300" dirty="0">
                <a:solidFill>
                  <a:srgbClr val="000000"/>
                </a:solidFill>
                <a:latin typeface="Lucida Sans Unicode"/>
              </a:rPr>
              <a:t>Address the distribution, delivery, and installation of the parts that make up the physical system</a:t>
            </a:r>
            <a:endParaRPr sz="2300" dirty="0">
              <a:solidFill>
                <a:srgbClr val="000000"/>
              </a:solidFill>
              <a:latin typeface="Lucida Sans Unicode"/>
            </a:endParaRPr>
          </a:p>
        </p:txBody>
      </p:sp>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439"/>
        <p:cNvGrpSpPr/>
        <p:nvPr/>
      </p:nvGrpSpPr>
      <p:grpSpPr>
        <a:xfrm>
          <a:off x="0" y="0"/>
          <a:ext cx="0" cy="0"/>
          <a:chOff x="0" y="0"/>
          <a:chExt cx="0" cy="0"/>
        </a:xfrm>
      </p:grpSpPr>
      <p:sp>
        <p:nvSpPr>
          <p:cNvPr id="440" name="Google Shape;440;p19"/>
          <p:cNvSpPr txBox="1"/>
          <p:nvPr/>
        </p:nvSpPr>
        <p:spPr>
          <a:xfrm>
            <a:off x="571612" y="4479560"/>
            <a:ext cx="5239253" cy="2267761"/>
          </a:xfrm>
          <a:prstGeom prst="rect">
            <a:avLst/>
          </a:prstGeom>
          <a:noFill/>
          <a:ln>
            <a:noFill/>
          </a:ln>
        </p:spPr>
        <p:txBody>
          <a:bodyPr spcFirstLastPara="1" wrap="square" lIns="91425" tIns="45700" rIns="91425" bIns="45700" anchor="t" anchorCtr="0">
            <a:normAutofit/>
          </a:bodyPr>
          <a:lstStyle/>
          <a:p>
            <a:pPr marL="981075" marR="0" lvl="0" indent="-476250" algn="l" rtl="0">
              <a:lnSpc>
                <a:spcPct val="90000"/>
              </a:lnSpc>
              <a:spcBef>
                <a:spcPts val="0"/>
              </a:spcBef>
              <a:spcAft>
                <a:spcPts val="0"/>
              </a:spcAft>
              <a:buClr>
                <a:srgbClr val="BFBFBF"/>
              </a:buClr>
              <a:buSzPts val="6000"/>
              <a:buFont typeface="Noto Sans Symbols"/>
              <a:buNone/>
            </a:pPr>
            <a:endParaRPr sz="6000" b="0" i="0" u="none" strike="noStrike" cap="none">
              <a:solidFill>
                <a:srgbClr val="AEABAB"/>
              </a:solidFill>
              <a:latin typeface="Calibri"/>
              <a:ea typeface="Calibri"/>
              <a:cs typeface="Calibri"/>
              <a:sym typeface="Calibri"/>
            </a:endParaRPr>
          </a:p>
          <a:p>
            <a:pPr marL="457200" marR="0" lvl="0" indent="-155575" algn="l" rtl="0">
              <a:lnSpc>
                <a:spcPct val="90000"/>
              </a:lnSpc>
              <a:spcBef>
                <a:spcPts val="1000"/>
              </a:spcBef>
              <a:spcAft>
                <a:spcPts val="0"/>
              </a:spcAft>
              <a:buClr>
                <a:srgbClr val="BFBFBF"/>
              </a:buClr>
              <a:buSzPts val="2800"/>
              <a:buFont typeface="Noto Sans Symbols"/>
              <a:buNone/>
            </a:pPr>
            <a:endParaRPr sz="2800" b="0" i="0" u="none" strike="noStrike" cap="none">
              <a:solidFill>
                <a:srgbClr val="BFBFBF"/>
              </a:solidFill>
              <a:latin typeface="Calibri"/>
              <a:ea typeface="Calibri"/>
              <a:cs typeface="Calibri"/>
              <a:sym typeface="Calibri"/>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42" name="Google Shape;442;p19"/>
          <p:cNvSpPr/>
          <p:nvPr/>
        </p:nvSpPr>
        <p:spPr>
          <a:xfrm>
            <a:off x="393110" y="727493"/>
            <a:ext cx="954978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UML Diagrams –Summary</a:t>
            </a:r>
            <a:endParaRPr sz="2000" b="1" i="0" u="none" strike="noStrike" cap="none">
              <a:solidFill>
                <a:srgbClr val="C55A11"/>
              </a:solidFill>
              <a:latin typeface="Calibri"/>
              <a:ea typeface="Calibri"/>
              <a:cs typeface="Calibri"/>
              <a:sym typeface="Calibri"/>
            </a:endParaRPr>
          </a:p>
        </p:txBody>
      </p:sp>
      <p:sp>
        <p:nvSpPr>
          <p:cNvPr id="444" name="Google Shape;444;p19"/>
          <p:cNvSpPr/>
          <p:nvPr/>
        </p:nvSpPr>
        <p:spPr>
          <a:xfrm>
            <a:off x="154004" y="1592180"/>
            <a:ext cx="8287352" cy="5059847"/>
          </a:xfrm>
          <a:prstGeom prst="rect">
            <a:avLst/>
          </a:prstGeom>
          <a:noFill/>
          <a:ln>
            <a:noFill/>
          </a:ln>
        </p:spPr>
        <p:txBody>
          <a:bodyPr spcFirstLastPara="1" wrap="square" lIns="91425" tIns="45700" rIns="91425" bIns="45700" anchor="t" anchorCtr="0">
            <a:spAutoFit/>
          </a:bodyPr>
          <a:lstStyle/>
          <a:p>
            <a:pPr marL="357188" marR="0" lvl="0" indent="-268288" algn="l" rtl="0">
              <a:lnSpc>
                <a:spcPct val="12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Calibri"/>
                <a:ea typeface="Calibri"/>
                <a:cs typeface="Calibri"/>
                <a:sym typeface="Calibri"/>
              </a:rPr>
              <a:t>State Diagram</a:t>
            </a:r>
            <a:endParaRPr sz="1800" b="0" i="0" u="none" strike="noStrike" cap="none">
              <a:solidFill>
                <a:schemeClr val="dk1"/>
              </a:solidFill>
              <a:latin typeface="Calibri"/>
              <a:ea typeface="Calibri"/>
              <a:cs typeface="Calibri"/>
              <a:sym typeface="Calibri"/>
            </a:endParaRPr>
          </a:p>
          <a:p>
            <a:pPr marL="534988" marR="0" lvl="1" indent="-177800" algn="l" rtl="0">
              <a:lnSpc>
                <a:spcPct val="120000"/>
              </a:lnSpc>
              <a:spcBef>
                <a:spcPts val="0"/>
              </a:spcBef>
              <a:spcAft>
                <a:spcPts val="0"/>
              </a:spcAft>
              <a:buClr>
                <a:srgbClr val="00B0F0"/>
              </a:buClr>
              <a:buSzPts val="2300"/>
              <a:buFont typeface="Verdana"/>
              <a:buChar char="◦"/>
            </a:pPr>
            <a:r>
              <a:rPr lang="en-US" sz="2300" b="0" i="0" u="none" strike="noStrike" cap="none">
                <a:solidFill>
                  <a:srgbClr val="000000"/>
                </a:solidFill>
                <a:latin typeface="Calibri"/>
                <a:ea typeface="Calibri"/>
                <a:cs typeface="Calibri"/>
                <a:sym typeface="Calibri"/>
              </a:rPr>
              <a:t>Shows states, transitions, events, and activities depicting the dynamic view of internal object states</a:t>
            </a:r>
            <a:endParaRPr sz="1800" b="0" i="0" u="none" strike="noStrike" cap="none">
              <a:solidFill>
                <a:schemeClr val="dk1"/>
              </a:solidFill>
              <a:latin typeface="Calibri"/>
              <a:ea typeface="Calibri"/>
              <a:cs typeface="Calibri"/>
              <a:sym typeface="Calibri"/>
            </a:endParaRPr>
          </a:p>
          <a:p>
            <a:pPr marL="357188" marR="0" lvl="0" indent="-268288" algn="l" rtl="0">
              <a:lnSpc>
                <a:spcPct val="12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Calibri"/>
                <a:ea typeface="Calibri"/>
                <a:cs typeface="Calibri"/>
                <a:sym typeface="Calibri"/>
              </a:rPr>
              <a:t>Sequence Diagram</a:t>
            </a:r>
            <a:endParaRPr sz="1400" b="0" i="0" u="none" strike="noStrike" cap="none">
              <a:solidFill>
                <a:srgbClr val="000000"/>
              </a:solidFill>
              <a:latin typeface="Arial"/>
              <a:ea typeface="Arial"/>
              <a:cs typeface="Arial"/>
              <a:sym typeface="Arial"/>
            </a:endParaRPr>
          </a:p>
          <a:p>
            <a:pPr marL="534988" marR="0" lvl="1" indent="-177800" algn="l" rtl="0">
              <a:lnSpc>
                <a:spcPct val="120000"/>
              </a:lnSpc>
              <a:spcBef>
                <a:spcPts val="0"/>
              </a:spcBef>
              <a:spcAft>
                <a:spcPts val="0"/>
              </a:spcAft>
              <a:buClr>
                <a:srgbClr val="00B0F0"/>
              </a:buClr>
              <a:buSzPts val="2300"/>
              <a:buFont typeface="Verdana"/>
              <a:buChar char="◦"/>
            </a:pPr>
            <a:r>
              <a:rPr lang="en-US" sz="2300" b="0" i="0" u="none" strike="noStrike" cap="none">
                <a:solidFill>
                  <a:srgbClr val="000000"/>
                </a:solidFill>
                <a:latin typeface="Calibri"/>
                <a:ea typeface="Calibri"/>
                <a:cs typeface="Calibri"/>
                <a:sym typeface="Calibri"/>
              </a:rPr>
              <a:t>Shows interactions between objects as a time-ordered view</a:t>
            </a:r>
            <a:endParaRPr sz="1400" b="0" i="0" u="none" strike="noStrike" cap="none">
              <a:solidFill>
                <a:srgbClr val="000000"/>
              </a:solidFill>
              <a:latin typeface="Arial"/>
              <a:ea typeface="Arial"/>
              <a:cs typeface="Arial"/>
              <a:sym typeface="Arial"/>
            </a:endParaRPr>
          </a:p>
          <a:p>
            <a:pPr marL="357188" marR="0" lvl="0" indent="-268288" algn="l" rtl="0">
              <a:lnSpc>
                <a:spcPct val="12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Calibri"/>
                <a:ea typeface="Calibri"/>
                <a:cs typeface="Calibri"/>
                <a:sym typeface="Calibri"/>
              </a:rPr>
              <a:t>Collaboration Diagram</a:t>
            </a:r>
            <a:endParaRPr sz="1400" b="0" i="0" u="none" strike="noStrike" cap="none">
              <a:solidFill>
                <a:srgbClr val="000000"/>
              </a:solidFill>
              <a:latin typeface="Arial"/>
              <a:ea typeface="Arial"/>
              <a:cs typeface="Arial"/>
              <a:sym typeface="Arial"/>
            </a:endParaRPr>
          </a:p>
          <a:p>
            <a:pPr marL="534988" marR="0" lvl="1" indent="-177800" algn="l" rtl="0">
              <a:lnSpc>
                <a:spcPct val="120000"/>
              </a:lnSpc>
              <a:spcBef>
                <a:spcPts val="0"/>
              </a:spcBef>
              <a:spcAft>
                <a:spcPts val="0"/>
              </a:spcAft>
              <a:buClr>
                <a:srgbClr val="00B0F0"/>
              </a:buClr>
              <a:buSzPts val="2300"/>
              <a:buFont typeface="Verdana"/>
              <a:buChar char="◦"/>
            </a:pPr>
            <a:r>
              <a:rPr lang="en-US" sz="2300" b="0" i="0" u="none" strike="noStrike" cap="none">
                <a:solidFill>
                  <a:srgbClr val="000000"/>
                </a:solidFill>
                <a:latin typeface="Calibri"/>
                <a:ea typeface="Calibri"/>
                <a:cs typeface="Calibri"/>
                <a:sym typeface="Calibri"/>
              </a:rPr>
              <a:t>Similar to sequence diagram, but in a spatial view, using numbering to indicate time order</a:t>
            </a:r>
            <a:endParaRPr sz="1400" b="0" i="0" u="none" strike="noStrike" cap="none">
              <a:solidFill>
                <a:srgbClr val="000000"/>
              </a:solidFill>
              <a:latin typeface="Arial"/>
              <a:ea typeface="Arial"/>
              <a:cs typeface="Arial"/>
              <a:sym typeface="Arial"/>
            </a:endParaRPr>
          </a:p>
          <a:p>
            <a:pPr marL="357188" marR="0" lvl="0" indent="-268288" algn="l" rtl="0">
              <a:lnSpc>
                <a:spcPct val="120000"/>
              </a:lnSpc>
              <a:spcBef>
                <a:spcPts val="0"/>
              </a:spcBef>
              <a:spcAft>
                <a:spcPts val="0"/>
              </a:spcAft>
              <a:buClr>
                <a:srgbClr val="00B0F0"/>
              </a:buClr>
              <a:buSzPts val="1836"/>
              <a:buFont typeface="Noto Sans Symbols"/>
              <a:buChar char="🞂"/>
            </a:pPr>
            <a:r>
              <a:rPr lang="en-US" sz="2700" b="0" i="0" u="none" strike="noStrike" cap="none">
                <a:solidFill>
                  <a:srgbClr val="000000"/>
                </a:solidFill>
                <a:latin typeface="Calibri"/>
                <a:ea typeface="Calibri"/>
                <a:cs typeface="Calibri"/>
                <a:sym typeface="Calibri"/>
              </a:rPr>
              <a:t>Deployment Diagram</a:t>
            </a:r>
            <a:endParaRPr sz="1400" b="0" i="0" u="none" strike="noStrike" cap="none">
              <a:solidFill>
                <a:srgbClr val="000000"/>
              </a:solidFill>
              <a:latin typeface="Arial"/>
              <a:ea typeface="Arial"/>
              <a:cs typeface="Arial"/>
              <a:sym typeface="Arial"/>
            </a:endParaRPr>
          </a:p>
          <a:p>
            <a:pPr marL="534988" marR="0" lvl="1" indent="-177800" algn="l" rtl="0">
              <a:lnSpc>
                <a:spcPct val="120000"/>
              </a:lnSpc>
              <a:spcBef>
                <a:spcPts val="0"/>
              </a:spcBef>
              <a:spcAft>
                <a:spcPts val="0"/>
              </a:spcAft>
              <a:buClr>
                <a:srgbClr val="00B0F0"/>
              </a:buClr>
              <a:buSzPts val="2300"/>
              <a:buFont typeface="Verdana"/>
              <a:buChar char="◦"/>
            </a:pPr>
            <a:r>
              <a:rPr lang="en-US" sz="2300" b="0" i="0" u="none" strike="noStrike" cap="none">
                <a:solidFill>
                  <a:srgbClr val="000000"/>
                </a:solidFill>
                <a:latin typeface="Calibri"/>
                <a:ea typeface="Calibri"/>
                <a:cs typeface="Calibri"/>
                <a:sym typeface="Calibri"/>
              </a:rPr>
              <a:t>Shows the configuration of run-time processing nodes and the components that are deployed on them</a:t>
            </a:r>
            <a:endParaRPr sz="1400" b="0" i="0" u="none" strike="noStrike" cap="none">
              <a:solidFill>
                <a:srgbClr val="000000"/>
              </a:solidFill>
              <a:latin typeface="Arial"/>
              <a:ea typeface="Arial"/>
              <a:cs typeface="Arial"/>
              <a:sym typeface="Arial"/>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cxnSp>
        <p:nvCxnSpPr>
          <p:cNvPr id="449" name="Google Shape;449;p20"/>
          <p:cNvCxnSpPr/>
          <p:nvPr/>
        </p:nvCxnSpPr>
        <p:spPr>
          <a:xfrm rot="10800000" flipH="1">
            <a:off x="5448168" y="2887307"/>
            <a:ext cx="4581449" cy="1"/>
          </a:xfrm>
          <a:prstGeom prst="straightConnector1">
            <a:avLst/>
          </a:prstGeom>
          <a:noFill/>
          <a:ln w="38100" cap="flat" cmpd="sng">
            <a:solidFill>
              <a:srgbClr val="C55A11"/>
            </a:solidFill>
            <a:prstDash val="solid"/>
            <a:miter lim="800000"/>
            <a:headEnd type="none" w="sm" len="sm"/>
            <a:tailEnd type="none" w="sm" len="sm"/>
          </a:ln>
        </p:spPr>
      </p:cxnSp>
      <p:sp>
        <p:nvSpPr>
          <p:cNvPr id="450" name="Google Shape;450;p20"/>
          <p:cNvSpPr/>
          <p:nvPr/>
        </p:nvSpPr>
        <p:spPr>
          <a:xfrm>
            <a:off x="5460537" y="4049738"/>
            <a:ext cx="443924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vinayj@pes.edu</a:t>
            </a:r>
            <a:endParaRPr sz="2400" b="1" i="0" u="none" strike="noStrike" cap="none">
              <a:solidFill>
                <a:schemeClr val="dk1"/>
              </a:solidFill>
              <a:latin typeface="Calibri"/>
              <a:ea typeface="Calibri"/>
              <a:cs typeface="Calibri"/>
              <a:sym typeface="Calibri"/>
            </a:endParaRPr>
          </a:p>
        </p:txBody>
      </p:sp>
      <p:grpSp>
        <p:nvGrpSpPr>
          <p:cNvPr id="451" name="Google Shape;451;p20"/>
          <p:cNvGrpSpPr/>
          <p:nvPr/>
        </p:nvGrpSpPr>
        <p:grpSpPr>
          <a:xfrm>
            <a:off x="313844" y="349466"/>
            <a:ext cx="11518407" cy="6218388"/>
            <a:chOff x="313844" y="349466"/>
            <a:chExt cx="11518407" cy="6218388"/>
          </a:xfrm>
        </p:grpSpPr>
        <p:sp>
          <p:nvSpPr>
            <p:cNvPr id="452" name="Google Shape;452;p20"/>
            <p:cNvSpPr/>
            <p:nvPr/>
          </p:nvSpPr>
          <p:spPr>
            <a:xfrm>
              <a:off x="11786532" y="360726"/>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53" name="Google Shape;453;p20"/>
            <p:cNvSpPr/>
            <p:nvPr/>
          </p:nvSpPr>
          <p:spPr>
            <a:xfrm rot="5400000">
              <a:off x="11275944" y="-161122"/>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54" name="Google Shape;454;p20"/>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55" name="Google Shape;455;p20"/>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grpSp>
      <p:sp>
        <p:nvSpPr>
          <p:cNvPr id="456" name="Google Shape;456;p20"/>
          <p:cNvSpPr/>
          <p:nvPr/>
        </p:nvSpPr>
        <p:spPr>
          <a:xfrm>
            <a:off x="5448168" y="2049518"/>
            <a:ext cx="4603806" cy="6652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55A11"/>
              </a:buClr>
              <a:buSzPts val="3600"/>
              <a:buFont typeface="Calibri"/>
              <a:buNone/>
            </a:pPr>
            <a:r>
              <a:rPr lang="en-US" sz="3600" b="1" i="0" u="none" strike="noStrike" cap="none">
                <a:solidFill>
                  <a:srgbClr val="C55A11"/>
                </a:solidFill>
                <a:latin typeface="Calibri"/>
                <a:ea typeface="Calibri"/>
                <a:cs typeface="Calibri"/>
                <a:sym typeface="Calibri"/>
              </a:rPr>
              <a:t>THANK YOU</a:t>
            </a:r>
            <a:endParaRPr sz="1800" b="0" i="0" u="none" strike="noStrike" cap="none">
              <a:solidFill>
                <a:schemeClr val="dk1"/>
              </a:solidFill>
              <a:latin typeface="Calibri"/>
              <a:ea typeface="Calibri"/>
              <a:cs typeface="Calibri"/>
              <a:sym typeface="Calibri"/>
            </a:endParaRPr>
          </a:p>
        </p:txBody>
      </p:sp>
      <p:sp>
        <p:nvSpPr>
          <p:cNvPr id="457" name="Google Shape;457;p20"/>
          <p:cNvSpPr/>
          <p:nvPr/>
        </p:nvSpPr>
        <p:spPr>
          <a:xfrm>
            <a:off x="5448168" y="3128242"/>
            <a:ext cx="749721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Vinay Joshi</a:t>
            </a:r>
            <a:endParaRPr sz="2400" b="1" i="0" u="none" strike="noStrike" cap="none">
              <a:solidFill>
                <a:schemeClr val="dk1"/>
              </a:solidFill>
              <a:latin typeface="Calibri"/>
              <a:ea typeface="Calibri"/>
              <a:cs typeface="Calibri"/>
              <a:sym typeface="Calibri"/>
            </a:endParaRPr>
          </a:p>
        </p:txBody>
      </p:sp>
      <p:sp>
        <p:nvSpPr>
          <p:cNvPr id="458" name="Google Shape;458;p20"/>
          <p:cNvSpPr/>
          <p:nvPr/>
        </p:nvSpPr>
        <p:spPr>
          <a:xfrm>
            <a:off x="5448168" y="3525847"/>
            <a:ext cx="65317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Department of Computer Science and Engineering</a:t>
            </a:r>
            <a:endParaRPr sz="2400" b="0" i="0" u="none" strike="noStrike" cap="none">
              <a:solidFill>
                <a:schemeClr val="dk1"/>
              </a:solidFill>
              <a:latin typeface="Calibri"/>
              <a:ea typeface="Calibri"/>
              <a:cs typeface="Calibri"/>
              <a:sym typeface="Calibri"/>
            </a:endParaRPr>
          </a:p>
        </p:txBody>
      </p:sp>
      <p:pic>
        <p:nvPicPr>
          <p:cNvPr id="13" name="Google Shape;320;p20"/>
          <p:cNvPicPr preferRelativeResize="0"/>
          <p:nvPr/>
        </p:nvPicPr>
        <p:blipFill rotWithShape="1">
          <a:blip r:embed="rId3">
            <a:alphaModFix/>
          </a:blip>
          <a:srcRect/>
          <a:stretch/>
        </p:blipFill>
        <p:spPr>
          <a:xfrm>
            <a:off x="1919726" y="1369935"/>
            <a:ext cx="2132109" cy="3550188"/>
          </a:xfrm>
          <a:prstGeom prst="rect">
            <a:avLst/>
          </a:prstGeom>
          <a:noFill/>
          <a:ln>
            <a:noFill/>
          </a:ln>
        </p:spPr>
      </p:pic>
    </p:spTree>
  </p:cSld>
  <p:clrMapOvr>
    <a:masterClrMapping/>
  </p:clrMapOvr>
  <mc:AlternateContent xmlns:mc="http://schemas.openxmlformats.org/markup-compatibility/2006">
    <mc:Choice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Requires="p14">
      <p:transition spd="slow" p14:dur="70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987</Words>
  <PresentationFormat>Custom</PresentationFormat>
  <Paragraphs>272</Paragraphs>
  <Slides>19</Slides>
  <Notes>19</Notes>
  <HiddenSlides>2</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Prahallad Nith</dc:creator>
  <cp:lastModifiedBy>Windows User</cp:lastModifiedBy>
  <cp:revision>3</cp:revision>
  <dcterms:created xsi:type="dcterms:W3CDTF">2019-05-30T23:14:36Z</dcterms:created>
  <dcterms:modified xsi:type="dcterms:W3CDTF">2025-01-03T17:36:13Z</dcterms:modified>
</cp:coreProperties>
</file>